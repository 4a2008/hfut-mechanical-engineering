
<file path=[Content_Types].xml><?xml version="1.0" encoding="utf-8"?>
<Types xmlns="http://schemas.openxmlformats.org/package/2006/content-types">
  <Default Extension="jpeg" ContentType="image/jpe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257" r:id="rId3"/>
    <p:sldId id="296" r:id="rId4"/>
    <p:sldId id="297" r:id="rId5"/>
    <p:sldId id="298" r:id="rId6"/>
    <p:sldId id="299" r:id="rId7"/>
    <p:sldId id="301" r:id="rId8"/>
    <p:sldId id="302" r:id="rId9"/>
    <p:sldId id="264" r:id="rId10"/>
    <p:sldId id="273" r:id="rId11"/>
    <p:sldId id="281" r:id="rId12"/>
    <p:sldId id="285" r:id="rId13"/>
    <p:sldId id="286" r:id="rId14"/>
    <p:sldId id="271" r:id="rId15"/>
    <p:sldId id="279" r:id="rId16"/>
    <p:sldId id="269" r:id="rId17"/>
    <p:sldId id="275" r:id="rId18"/>
    <p:sldId id="282" r:id="rId19"/>
    <p:sldId id="283" r:id="rId20"/>
    <p:sldId id="276" r:id="rId21"/>
    <p:sldId id="280" r:id="rId22"/>
  </p:sldIdLst>
  <p:sldSz cx="5715000" cy="9144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880"/>
        <p:guide pos="180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464594" y="1143000"/>
            <a:ext cx="1928813"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雨课堂试卷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85750" y="3810000"/>
            <a:ext cx="5143500" cy="1524000"/>
          </a:xfrm>
        </p:spPr>
        <p:txBody>
          <a:bodyPr anchor="ctr" anchorCtr="1"/>
          <a:lstStyle>
            <a:lvl1pPr>
              <a:defRPr sz="2600"/>
            </a:lvl1pPr>
          </a:lstStyle>
          <a:p>
            <a:r>
              <a:rPr lang="zh-CN" altLang="en-US" smtClean="0"/>
              <a:t>请填写试卷标题</a:t>
            </a:r>
            <a:endParaRPr lang="zh-CN" altLang="en-US" smtClean="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KSO_TEMPLATE" hidden="1"/>
          <p:cNvSpPr/>
          <p:nvPr>
            <p:custDataLst>
              <p:tags r:id="rId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571500" rtl="0" eaLnBrk="1" fontAlgn="auto" latinLnBrk="0" hangingPunct="1">
        <a:lnSpc>
          <a:spcPct val="100000"/>
        </a:lnSpc>
        <a:spcBef>
          <a:spcPct val="0"/>
        </a:spcBef>
        <a:buNone/>
        <a:defRPr sz="225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142875" indent="-142875" algn="l" defTabSz="571500" rtl="0" eaLnBrk="1" fontAlgn="auto" latinLnBrk="0" hangingPunct="1">
        <a:lnSpc>
          <a:spcPct val="130000"/>
        </a:lnSpc>
        <a:spcBef>
          <a:spcPts val="0"/>
        </a:spcBef>
        <a:spcAft>
          <a:spcPts val="1000"/>
        </a:spcAft>
        <a:buFont typeface="Arial" panose="020B0604020202020204" pitchFamily="34" charset="0"/>
        <a:buChar char="•"/>
        <a:defRPr sz="10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428625" indent="-142875" algn="l" defTabSz="571500" rtl="0" eaLnBrk="1" fontAlgn="auto" latinLnBrk="0" hangingPunct="1">
        <a:lnSpc>
          <a:spcPct val="130000"/>
        </a:lnSpc>
        <a:spcBef>
          <a:spcPts val="0"/>
        </a:spcBef>
        <a:spcAft>
          <a:spcPts val="1000"/>
        </a:spcAft>
        <a:buFont typeface="Arial" panose="020B0604020202020204" pitchFamily="34" charset="0"/>
        <a:buChar char="•"/>
        <a:tabLst>
          <a:tab pos="1005840" algn="l"/>
        </a:tabLst>
        <a:defRPr sz="10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714375" indent="-142875" algn="l" defTabSz="571500" rtl="0" eaLnBrk="1" fontAlgn="auto" latinLnBrk="0" hangingPunct="1">
        <a:lnSpc>
          <a:spcPct val="130000"/>
        </a:lnSpc>
        <a:spcBef>
          <a:spcPts val="0"/>
        </a:spcBef>
        <a:spcAft>
          <a:spcPts val="1000"/>
        </a:spcAft>
        <a:buFont typeface="Arial" panose="020B0604020202020204" pitchFamily="34" charset="0"/>
        <a:buChar char="•"/>
        <a:defRPr sz="10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000125" indent="-142875" algn="l" defTabSz="571500" rtl="0" eaLnBrk="1" fontAlgn="auto" latinLnBrk="0" hangingPunct="1">
        <a:lnSpc>
          <a:spcPct val="130000"/>
        </a:lnSpc>
        <a:spcBef>
          <a:spcPts val="0"/>
        </a:spcBef>
        <a:spcAft>
          <a:spcPts val="1000"/>
        </a:spcAft>
        <a:buFont typeface="Arial" panose="020B0604020202020204" pitchFamily="34" charset="0"/>
        <a:buChar char="•"/>
        <a:defRPr sz="10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1285875" indent="-142875" algn="l" defTabSz="571500" rtl="0" eaLnBrk="1" fontAlgn="auto" latinLnBrk="0" hangingPunct="1">
        <a:lnSpc>
          <a:spcPct val="130000"/>
        </a:lnSpc>
        <a:spcBef>
          <a:spcPts val="0"/>
        </a:spcBef>
        <a:spcAft>
          <a:spcPts val="1000"/>
        </a:spcAft>
        <a:buFont typeface="Arial" panose="020B0604020202020204" pitchFamily="34" charset="0"/>
        <a:buChar char="•"/>
        <a:defRPr sz="10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1571625" indent="-142875" algn="l" defTabSz="571500" rtl="0" eaLnBrk="1" latinLnBrk="0" hangingPunct="1">
        <a:lnSpc>
          <a:spcPct val="90000"/>
        </a:lnSpc>
        <a:spcBef>
          <a:spcPct val="63000"/>
        </a:spcBef>
        <a:buFont typeface="Arial" panose="020B0604020202020204" pitchFamily="34" charset="0"/>
        <a:buChar char="•"/>
        <a:defRPr sz="1125" kern="1200">
          <a:solidFill>
            <a:schemeClr val="tx1"/>
          </a:solidFill>
          <a:latin typeface="+mn-lt"/>
          <a:ea typeface="+mn-ea"/>
          <a:cs typeface="+mn-cs"/>
        </a:defRPr>
      </a:lvl6pPr>
      <a:lvl7pPr marL="1857375" indent="-142875" algn="l" defTabSz="571500" rtl="0" eaLnBrk="1" latinLnBrk="0" hangingPunct="1">
        <a:lnSpc>
          <a:spcPct val="90000"/>
        </a:lnSpc>
        <a:spcBef>
          <a:spcPct val="63000"/>
        </a:spcBef>
        <a:buFont typeface="Arial" panose="020B0604020202020204" pitchFamily="34" charset="0"/>
        <a:buChar char="•"/>
        <a:defRPr sz="1125" kern="1200">
          <a:solidFill>
            <a:schemeClr val="tx1"/>
          </a:solidFill>
          <a:latin typeface="+mn-lt"/>
          <a:ea typeface="+mn-ea"/>
          <a:cs typeface="+mn-cs"/>
        </a:defRPr>
      </a:lvl7pPr>
      <a:lvl8pPr marL="2143125" indent="-142875" algn="l" defTabSz="571500" rtl="0" eaLnBrk="1" latinLnBrk="0" hangingPunct="1">
        <a:lnSpc>
          <a:spcPct val="90000"/>
        </a:lnSpc>
        <a:spcBef>
          <a:spcPct val="63000"/>
        </a:spcBef>
        <a:buFont typeface="Arial" panose="020B0604020202020204" pitchFamily="34" charset="0"/>
        <a:buChar char="•"/>
        <a:defRPr sz="1125" kern="1200">
          <a:solidFill>
            <a:schemeClr val="tx1"/>
          </a:solidFill>
          <a:latin typeface="+mn-lt"/>
          <a:ea typeface="+mn-ea"/>
          <a:cs typeface="+mn-cs"/>
        </a:defRPr>
      </a:lvl8pPr>
      <a:lvl9pPr marL="2428875" indent="-142875" algn="l" defTabSz="571500" rtl="0" eaLnBrk="1" latinLnBrk="0" hangingPunct="1">
        <a:lnSpc>
          <a:spcPct val="90000"/>
        </a:lnSpc>
        <a:spcBef>
          <a:spcPct val="63000"/>
        </a:spcBef>
        <a:buFont typeface="Arial" panose="020B0604020202020204" pitchFamily="34" charset="0"/>
        <a:buChar char="•"/>
        <a:defRPr sz="1125" kern="1200">
          <a:solidFill>
            <a:schemeClr val="tx1"/>
          </a:solidFill>
          <a:latin typeface="+mn-lt"/>
          <a:ea typeface="+mn-ea"/>
          <a:cs typeface="+mn-cs"/>
        </a:defRPr>
      </a:lvl9pPr>
    </p:bodyStyle>
    <p:otherStyle>
      <a:defPPr>
        <a:defRPr lang="zh-CN"/>
      </a:defPPr>
      <a:lvl1pPr marL="0" algn="l" defTabSz="571500" rtl="0" eaLnBrk="1" latinLnBrk="0" hangingPunct="1">
        <a:defRPr sz="1125" kern="1200">
          <a:solidFill>
            <a:schemeClr val="tx1"/>
          </a:solidFill>
          <a:latin typeface="+mn-lt"/>
          <a:ea typeface="+mn-ea"/>
          <a:cs typeface="+mn-cs"/>
        </a:defRPr>
      </a:lvl1pPr>
      <a:lvl2pPr marL="285750" algn="l" defTabSz="571500" rtl="0" eaLnBrk="1" latinLnBrk="0" hangingPunct="1">
        <a:defRPr sz="1125" kern="1200">
          <a:solidFill>
            <a:schemeClr val="tx1"/>
          </a:solidFill>
          <a:latin typeface="+mn-lt"/>
          <a:ea typeface="+mn-ea"/>
          <a:cs typeface="+mn-cs"/>
        </a:defRPr>
      </a:lvl2pPr>
      <a:lvl3pPr marL="571500" algn="l" defTabSz="571500" rtl="0" eaLnBrk="1" latinLnBrk="0" hangingPunct="1">
        <a:defRPr sz="1125" kern="1200">
          <a:solidFill>
            <a:schemeClr val="tx1"/>
          </a:solidFill>
          <a:latin typeface="+mn-lt"/>
          <a:ea typeface="+mn-ea"/>
          <a:cs typeface="+mn-cs"/>
        </a:defRPr>
      </a:lvl3pPr>
      <a:lvl4pPr marL="857250" algn="l" defTabSz="571500" rtl="0" eaLnBrk="1" latinLnBrk="0" hangingPunct="1">
        <a:defRPr sz="1125" kern="1200">
          <a:solidFill>
            <a:schemeClr val="tx1"/>
          </a:solidFill>
          <a:latin typeface="+mn-lt"/>
          <a:ea typeface="+mn-ea"/>
          <a:cs typeface="+mn-cs"/>
        </a:defRPr>
      </a:lvl4pPr>
      <a:lvl5pPr marL="1143000" algn="l" defTabSz="571500" rtl="0" eaLnBrk="1" latinLnBrk="0" hangingPunct="1">
        <a:defRPr sz="1125" kern="1200">
          <a:solidFill>
            <a:schemeClr val="tx1"/>
          </a:solidFill>
          <a:latin typeface="+mn-lt"/>
          <a:ea typeface="+mn-ea"/>
          <a:cs typeface="+mn-cs"/>
        </a:defRPr>
      </a:lvl5pPr>
      <a:lvl6pPr marL="1428750" algn="l" defTabSz="571500" rtl="0" eaLnBrk="1" latinLnBrk="0" hangingPunct="1">
        <a:defRPr sz="1125" kern="1200">
          <a:solidFill>
            <a:schemeClr val="tx1"/>
          </a:solidFill>
          <a:latin typeface="+mn-lt"/>
          <a:ea typeface="+mn-ea"/>
          <a:cs typeface="+mn-cs"/>
        </a:defRPr>
      </a:lvl6pPr>
      <a:lvl7pPr marL="1714500" algn="l" defTabSz="571500" rtl="0" eaLnBrk="1" latinLnBrk="0" hangingPunct="1">
        <a:defRPr sz="1125" kern="1200">
          <a:solidFill>
            <a:schemeClr val="tx1"/>
          </a:solidFill>
          <a:latin typeface="+mn-lt"/>
          <a:ea typeface="+mn-ea"/>
          <a:cs typeface="+mn-cs"/>
        </a:defRPr>
      </a:lvl7pPr>
      <a:lvl8pPr marL="2000250" algn="l" defTabSz="571500" rtl="0" eaLnBrk="1" latinLnBrk="0" hangingPunct="1">
        <a:defRPr sz="1125" kern="1200">
          <a:solidFill>
            <a:schemeClr val="tx1"/>
          </a:solidFill>
          <a:latin typeface="+mn-lt"/>
          <a:ea typeface="+mn-ea"/>
          <a:cs typeface="+mn-cs"/>
        </a:defRPr>
      </a:lvl8pPr>
      <a:lvl9pPr marL="2286000" algn="l" defTabSz="571500" rtl="0" eaLnBrk="1" latinLnBrk="0" hangingPunct="1">
        <a:defRPr sz="1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tif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tif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tif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00" y="454025"/>
            <a:ext cx="5461000" cy="6915785"/>
          </a:xfrm>
        </p:spPr>
        <p:txBody>
          <a:bodyPr/>
          <a:p>
            <a:r>
              <a:rPr lang="zh-CN" altLang="en-US"/>
              <a:t>20</a:t>
            </a:r>
            <a:r>
              <a:rPr lang="en-US" altLang="zh-CN"/>
              <a:t>20</a:t>
            </a:r>
            <a:r>
              <a:rPr lang="zh-CN" altLang="en-US"/>
              <a:t>互换性与测量技术基础</a:t>
            </a:r>
            <a:br>
              <a:rPr lang="zh-CN" altLang="en-US"/>
            </a:br>
            <a:r>
              <a:rPr lang="zh-CN" altLang="en-US"/>
              <a:t>     </a:t>
            </a:r>
            <a:r>
              <a:rPr lang="zh-CN" altLang="en-US" sz="2000" b="0"/>
              <a:t>网上课堂</a:t>
            </a:r>
            <a:r>
              <a:rPr lang="en-US" altLang="zh-CN" sz="2000" b="0">
                <a:solidFill>
                  <a:srgbClr val="FF0000"/>
                </a:solidFill>
              </a:rPr>
              <a:t>“</a:t>
            </a:r>
            <a:r>
              <a:rPr lang="zh-CN" altLang="en-US" sz="2000" b="0">
                <a:solidFill>
                  <a:srgbClr val="FF0000"/>
                </a:solidFill>
              </a:rPr>
              <a:t>图样标注与改错题</a:t>
            </a:r>
            <a:r>
              <a:rPr lang="en-US" altLang="zh-CN" sz="2000" b="0">
                <a:solidFill>
                  <a:srgbClr val="FF0000"/>
                </a:solidFill>
              </a:rPr>
              <a:t>”</a:t>
            </a:r>
            <a:br>
              <a:rPr lang="zh-CN" altLang="en-US" sz="2000" b="0"/>
            </a:br>
            <a:r>
              <a:rPr lang="zh-CN" altLang="en-US" sz="2000" b="0"/>
              <a:t>        </a:t>
            </a:r>
            <a:r>
              <a:rPr lang="zh-CN" altLang="en-US" sz="2800" b="0"/>
              <a:t>辅导练习答题</a:t>
            </a:r>
            <a:r>
              <a:rPr lang="zh-CN" altLang="en-US" sz="2800" b="0"/>
              <a:t>示范</a:t>
            </a:r>
            <a:br>
              <a:rPr lang="zh-CN" altLang="en-US" sz="2800" b="0"/>
            </a:br>
            <a:r>
              <a:rPr lang="zh-CN" altLang="en-US" sz="2000" b="0"/>
              <a:t>          （供同学们参考）</a:t>
            </a:r>
            <a:br>
              <a:rPr lang="zh-CN" altLang="en-US" sz="2000" b="0"/>
            </a:br>
            <a:br>
              <a:rPr lang="zh-CN" altLang="en-US" sz="2000" b="0"/>
            </a:br>
            <a:br>
              <a:rPr lang="zh-CN" altLang="en-US"/>
            </a:br>
            <a:br>
              <a:rPr lang="zh-CN" altLang="en-US"/>
            </a:br>
            <a:br>
              <a:rPr lang="zh-CN" altLang="en-US"/>
            </a:br>
            <a:br>
              <a:rPr lang="zh-CN" altLang="en-US"/>
            </a:br>
            <a:r>
              <a:rPr lang="zh-CN" altLang="en-US" b="0"/>
              <a:t>教学班号</a:t>
            </a:r>
            <a:r>
              <a:rPr lang="zh-CN" altLang="en-US" b="0" u="sng"/>
              <a:t> </a:t>
            </a:r>
            <a:r>
              <a:rPr lang="en-US" altLang="zh-CN" b="0" u="sng">
                <a:latin typeface="+mn-ea"/>
                <a:ea typeface="+mn-ea"/>
                <a:cs typeface="+mn-ea"/>
                <a:sym typeface="+mn-ea"/>
              </a:rPr>
              <a:t>001</a:t>
            </a:r>
            <a:r>
              <a:rPr lang="zh-CN" altLang="en-US" b="0" u="sng">
                <a:latin typeface="+mn-ea"/>
                <a:ea typeface="+mn-ea"/>
                <a:cs typeface="+mn-ea"/>
                <a:sym typeface="+mn-ea"/>
              </a:rPr>
              <a:t>和</a:t>
            </a:r>
            <a:r>
              <a:rPr lang="en-US" altLang="zh-CN" b="0" u="sng">
                <a:latin typeface="+mn-ea"/>
                <a:ea typeface="+mn-ea"/>
                <a:cs typeface="+mn-ea"/>
                <a:sym typeface="+mn-ea"/>
              </a:rPr>
              <a:t>002</a:t>
            </a:r>
            <a:r>
              <a:rPr lang="zh-CN" altLang="en-US" b="0" u="sng"/>
              <a:t>        </a:t>
            </a:r>
            <a:br>
              <a:rPr lang="zh-CN" altLang="en-US" b="0"/>
            </a:br>
            <a:br>
              <a:rPr lang="zh-CN" altLang="en-US" sz="1800" b="0">
                <a:latin typeface="+mn-ea"/>
                <a:ea typeface="+mn-ea"/>
                <a:cs typeface="+mn-ea"/>
              </a:rPr>
            </a:br>
            <a:r>
              <a:rPr lang="zh-CN" altLang="en-US" sz="2400" b="0">
                <a:latin typeface="+mn-ea"/>
                <a:ea typeface="+mn-ea"/>
                <a:cs typeface="+mn-ea"/>
              </a:rPr>
              <a:t>授课</a:t>
            </a:r>
            <a:r>
              <a:rPr lang="zh-CN" altLang="en-US" sz="2400" b="0">
                <a:latin typeface="+mn-ea"/>
                <a:ea typeface="+mn-ea"/>
              </a:rPr>
              <a:t>班级</a:t>
            </a:r>
            <a:r>
              <a:rPr lang="zh-CN" altLang="en-US" b="0"/>
              <a:t> </a:t>
            </a:r>
            <a:r>
              <a:rPr lang="zh-CN" altLang="en-US" sz="2000" b="0" u="sng">
                <a:latin typeface="+mn-ea"/>
                <a:ea typeface="+mn-ea"/>
                <a:cs typeface="+mn-ea"/>
              </a:rPr>
              <a:t>机械工程1</a:t>
            </a:r>
            <a:r>
              <a:rPr lang="en-US" altLang="zh-CN" sz="2000" b="0" u="sng">
                <a:latin typeface="+mn-ea"/>
                <a:ea typeface="+mn-ea"/>
                <a:cs typeface="+mn-ea"/>
              </a:rPr>
              <a:t>8</a:t>
            </a:r>
            <a:r>
              <a:rPr lang="zh-CN" altLang="en-US" sz="2000" b="0" u="sng">
                <a:latin typeface="+mn-ea"/>
                <a:ea typeface="+mn-ea"/>
                <a:cs typeface="+mn-ea"/>
              </a:rPr>
              <a:t>-</a:t>
            </a:r>
            <a:r>
              <a:rPr lang="en-US" altLang="zh-CN" sz="2000" b="0" u="sng">
                <a:latin typeface="+mn-ea"/>
                <a:ea typeface="+mn-ea"/>
                <a:cs typeface="+mn-ea"/>
              </a:rPr>
              <a:t>5/6/7/8</a:t>
            </a:r>
            <a:r>
              <a:rPr lang="zh-CN" altLang="en-US" sz="2000" b="0" u="sng">
                <a:latin typeface="+mn-ea"/>
                <a:ea typeface="+mn-ea"/>
                <a:cs typeface="+mn-ea"/>
              </a:rPr>
              <a:t>班 </a:t>
            </a:r>
            <a:br>
              <a:rPr lang="zh-CN" altLang="en-US" sz="2000" b="0" u="sng">
                <a:latin typeface="+mn-ea"/>
                <a:ea typeface="+mn-ea"/>
                <a:cs typeface="+mn-ea"/>
              </a:rPr>
            </a:br>
            <a:br>
              <a:rPr lang="zh-CN" altLang="en-US" sz="2000" b="0" u="sng">
                <a:latin typeface="+mn-ea"/>
                <a:ea typeface="+mn-ea"/>
                <a:cs typeface="+mn-ea"/>
              </a:rPr>
            </a:br>
            <a:r>
              <a:rPr lang="zh-CN" altLang="en-US" sz="2400" b="0">
                <a:latin typeface="+mn-ea"/>
                <a:ea typeface="+mn-ea"/>
                <a:cs typeface="+mn-ea"/>
                <a:sym typeface="+mn-ea"/>
              </a:rPr>
              <a:t>授课教师 </a:t>
            </a:r>
            <a:r>
              <a:rPr lang="zh-CN" altLang="en-US" sz="2400" b="0" u="sng">
                <a:latin typeface="+mn-ea"/>
                <a:ea typeface="+mn-ea"/>
                <a:cs typeface="+mn-ea"/>
                <a:sym typeface="+mn-ea"/>
              </a:rPr>
              <a:t>郑盛新</a:t>
            </a:r>
            <a:r>
              <a:rPr lang="zh-CN" altLang="en-US" sz="2400" b="0" u="sng">
                <a:latin typeface="+mn-ea"/>
                <a:ea typeface="+mn-ea"/>
                <a:cs typeface="+mn-ea"/>
              </a:rPr>
              <a:t> </a:t>
            </a:r>
            <a:r>
              <a:rPr lang="zh-CN" altLang="en-US" sz="2000">
                <a:latin typeface="+mn-ea"/>
                <a:ea typeface="+mn-ea"/>
                <a:cs typeface="+mn-ea"/>
              </a:rPr>
              <a:t>                </a:t>
            </a:r>
            <a:endParaRPr lang="zh-CN" altLang="en-US" sz="2000">
              <a:latin typeface="+mn-ea"/>
              <a:ea typeface="+mn-ea"/>
              <a:cs typeface="+mn-ea"/>
            </a:endParaRPr>
          </a:p>
        </p:txBody>
      </p:sp>
      <p:sp>
        <p:nvSpPr>
          <p:cNvPr id="3" name="文本框 2"/>
          <p:cNvSpPr txBox="1"/>
          <p:nvPr>
            <p:custDataLst>
              <p:tags r:id="rId1"/>
            </p:custDataLst>
          </p:nvPr>
        </p:nvSpPr>
        <p:spPr>
          <a:xfrm>
            <a:off x="1841500" y="6719570"/>
            <a:ext cx="2032000" cy="508000"/>
          </a:xfrm>
          <a:prstGeom prst="rect">
            <a:avLst/>
          </a:prstGeom>
          <a:noFill/>
          <a:ln w="12700">
            <a:noFill/>
          </a:ln>
        </p:spPr>
        <p:txBody>
          <a:bodyPr wrap="square" rtlCol="0" anchor="ctr" anchorCtr="1">
            <a:noAutofit/>
          </a:bodyPr>
          <a:p>
            <a:pPr lvl="0" algn="l">
              <a:buNone/>
            </a:pPr>
            <a:r>
              <a:rPr lang="en-US" altLang="zh-CN" sz="2000">
                <a:solidFill>
                  <a:srgbClr val="000000"/>
                </a:solidFill>
              </a:rPr>
              <a:t>总分: 0</a:t>
            </a:r>
            <a:endParaRPr lang="en-US" altLang="zh-CN" sz="2000">
              <a:solidFill>
                <a:srgbClr val="000000"/>
              </a:solidFill>
            </a:endParaRPr>
          </a:p>
        </p:txBody>
      </p:sp>
      <p:sp>
        <p:nvSpPr>
          <p:cNvPr id="4" name="文本框 3"/>
          <p:cNvSpPr txBox="1"/>
          <p:nvPr/>
        </p:nvSpPr>
        <p:spPr>
          <a:xfrm>
            <a:off x="127000" y="7874000"/>
            <a:ext cx="5461000" cy="1016000"/>
          </a:xfrm>
          <a:prstGeom prst="rect">
            <a:avLst/>
          </a:prstGeom>
          <a:noFill/>
          <a:ln w="12700">
            <a:noFill/>
          </a:ln>
        </p:spPr>
        <p:txBody>
          <a:bodyPr wrap="square" rtlCol="0" anchor="ctr">
            <a:noAutofit/>
          </a:bodyPr>
          <a:p>
            <a:pPr lvl="0" algn="l">
              <a:buNone/>
            </a:pPr>
            <a:r>
              <a:rPr lang="zh-CN" altLang="en-US" sz="2000">
                <a:solidFill>
                  <a:srgbClr val="FF0000"/>
                </a:solidFill>
              </a:rPr>
              <a:t>*此封面页请勿删除，删除后将无法上传至试卷库，添加菜单栏任意题型即可制作试卷。本提示将在上传时自动隐藏。</a:t>
            </a:r>
            <a:endParaRPr lang="zh-CN" altLang="en-US" sz="2000">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416560" y="307975"/>
            <a:ext cx="5080000" cy="8832215"/>
          </a:xfrm>
          <a:prstGeom prst="rect">
            <a:avLst/>
          </a:prstGeom>
          <a:noFill/>
          <a:ln w="9525">
            <a:noFill/>
          </a:ln>
        </p:spPr>
        <p:txBody>
          <a:bodyPr wrap="square">
            <a:spAutoFit/>
          </a:bodyPr>
          <a:p>
            <a:pPr indent="0"/>
            <a:r>
              <a:rPr lang="en-US" altLang="zh-CN" sz="2800" b="1">
                <a:latin typeface="+mn-ea"/>
                <a:cs typeface="+mn-ea"/>
              </a:rPr>
              <a:t>0</a:t>
            </a:r>
            <a:r>
              <a:rPr lang="zh-CN" altLang="en-US" sz="2800" b="1">
                <a:latin typeface="+mn-ea"/>
                <a:cs typeface="+mn-ea"/>
              </a:rPr>
              <a:t>、</a:t>
            </a:r>
            <a:r>
              <a:rPr lang="zh-CN" altLang="en-US" sz="2800" b="1">
                <a:latin typeface="+mn-ea"/>
                <a:cs typeface="+mn-ea"/>
              </a:rPr>
              <a:t>引言</a:t>
            </a:r>
            <a:endParaRPr lang="zh-CN" sz="2800" b="1">
              <a:latin typeface="+mn-ea"/>
              <a:cs typeface="+mn-ea"/>
            </a:endParaRPr>
          </a:p>
          <a:p>
            <a:pPr indent="0"/>
            <a:r>
              <a:rPr lang="zh-CN" sz="2800" b="0">
                <a:solidFill>
                  <a:schemeClr val="tx1"/>
                </a:solidFill>
                <a:latin typeface="+mn-ea"/>
                <a:cs typeface="+mn-ea"/>
              </a:rPr>
              <a:t>      图样标注与标注改错题</a:t>
            </a:r>
            <a:endParaRPr lang="zh-CN" sz="2800" b="0">
              <a:solidFill>
                <a:srgbClr val="FF0000"/>
              </a:solidFill>
              <a:latin typeface="+mn-ea"/>
              <a:cs typeface="+mn-ea"/>
            </a:endParaRPr>
          </a:p>
          <a:p>
            <a:pPr indent="0"/>
            <a:r>
              <a:rPr lang="zh-CN" sz="2800" b="0">
                <a:solidFill>
                  <a:srgbClr val="FF0000"/>
                </a:solidFill>
                <a:latin typeface="+mn-ea"/>
                <a:cs typeface="+mn-ea"/>
              </a:rPr>
              <a:t>          常见的一些问题</a:t>
            </a:r>
            <a:endParaRPr lang="zh-CN" sz="2800" b="0">
              <a:solidFill>
                <a:srgbClr val="FF0000"/>
              </a:solidFill>
              <a:latin typeface="+mn-ea"/>
              <a:cs typeface="+mn-ea"/>
            </a:endParaRPr>
          </a:p>
          <a:p>
            <a:pPr indent="0"/>
            <a:r>
              <a:rPr lang="zh-CN" sz="2800" b="0">
                <a:solidFill>
                  <a:srgbClr val="FF0000"/>
                </a:solidFill>
                <a:latin typeface="Arial" panose="020B0604020202020204" pitchFamily="34" charset="0"/>
                <a:cs typeface="Arial" panose="020B0604020202020204" pitchFamily="34" charset="0"/>
              </a:rPr>
              <a:t>→</a:t>
            </a:r>
            <a:r>
              <a:rPr lang="zh-CN" sz="2000" b="0">
                <a:solidFill>
                  <a:srgbClr val="FF0000"/>
                </a:solidFill>
                <a:latin typeface="+mn-ea"/>
                <a:cs typeface="+mn-ea"/>
              </a:rPr>
              <a:t>重点难点</a:t>
            </a:r>
            <a:r>
              <a:rPr lang="en-US" altLang="zh-CN" sz="2000" b="0">
                <a:solidFill>
                  <a:srgbClr val="FF0000"/>
                </a:solidFill>
                <a:latin typeface="+mn-ea"/>
                <a:cs typeface="+mn-ea"/>
              </a:rPr>
              <a:t>--</a:t>
            </a:r>
            <a:r>
              <a:rPr lang="zh-CN" altLang="en-US" sz="2000" b="0">
                <a:solidFill>
                  <a:srgbClr val="FF0000"/>
                </a:solidFill>
                <a:latin typeface="+mn-ea"/>
                <a:cs typeface="+mn-ea"/>
              </a:rPr>
              <a:t>几何公差（即形位公差）标注  与改错</a:t>
            </a:r>
            <a:endParaRPr lang="zh-CN" sz="2800" b="0">
              <a:solidFill>
                <a:srgbClr val="FF0000"/>
              </a:solidFill>
              <a:latin typeface="+mn-ea"/>
              <a:cs typeface="+mn-ea"/>
            </a:endParaRPr>
          </a:p>
          <a:p>
            <a:pPr indent="0"/>
            <a:r>
              <a:rPr lang="en-US" altLang="zh-CN" sz="2800" b="0">
                <a:solidFill>
                  <a:schemeClr val="tx1"/>
                </a:solidFill>
                <a:latin typeface="+mn-ea"/>
                <a:cs typeface="+mn-ea"/>
              </a:rPr>
              <a:t>1</a:t>
            </a:r>
            <a:r>
              <a:rPr lang="zh-CN" altLang="en-US" sz="2800" b="0">
                <a:solidFill>
                  <a:schemeClr val="tx1"/>
                </a:solidFill>
                <a:latin typeface="+mn-ea"/>
                <a:cs typeface="+mn-ea"/>
              </a:rPr>
              <a:t>、作为零件设计者要考虑其功能和精度要求，对组成要素及关联导出中心要素（基准要素）几何公差该加以限制的，就要在设计图样上进行必要的合理标注，以便给实施制造加工与检测者提供按图验收零件是否合格的依据；</a:t>
            </a:r>
            <a:endParaRPr lang="zh-CN" altLang="en-US" sz="2800" b="0">
              <a:solidFill>
                <a:schemeClr val="tx1"/>
              </a:solidFill>
              <a:latin typeface="+mn-ea"/>
              <a:cs typeface="+mn-ea"/>
            </a:endParaRPr>
          </a:p>
          <a:p>
            <a:pPr indent="0"/>
            <a:r>
              <a:rPr lang="en-US" altLang="zh-CN" sz="2800" b="0">
                <a:solidFill>
                  <a:schemeClr val="tx1"/>
                </a:solidFill>
                <a:latin typeface="+mn-ea"/>
                <a:cs typeface="+mn-ea"/>
              </a:rPr>
              <a:t>2</a:t>
            </a:r>
            <a:r>
              <a:rPr lang="zh-CN" altLang="en-US" sz="2800" b="0">
                <a:solidFill>
                  <a:schemeClr val="tx1"/>
                </a:solidFill>
                <a:latin typeface="+mn-ea"/>
                <a:cs typeface="+mn-ea"/>
              </a:rPr>
              <a:t>、图样设计标注首先要搞清楚组成被测要素是什么要素（点、线、面）？加以限制的是单一要素还是关联或导出中心要素，涉及基准与否必须搞清楚，否则标注就会出错；</a:t>
            </a:r>
            <a:endParaRPr lang="zh-CN" sz="2800" b="0">
              <a:solidFill>
                <a:srgbClr val="FF0000"/>
              </a:solidFill>
              <a:latin typeface="+mn-ea"/>
              <a:cs typeface="+mn-ea"/>
            </a:endParaRPr>
          </a:p>
          <a:p>
            <a:pPr indent="0"/>
            <a:r>
              <a:rPr lang="zh-CN" sz="2800" b="0">
                <a:solidFill>
                  <a:srgbClr val="FF0000"/>
                </a:solidFill>
                <a:latin typeface="+mn-ea"/>
                <a:cs typeface="+mn-ea"/>
              </a:rPr>
              <a:t>             </a:t>
            </a:r>
            <a:endParaRPr lang="zh-CN" sz="2800" b="0">
              <a:solidFill>
                <a:srgbClr val="FF0000"/>
              </a:solidFill>
              <a:latin typeface="+mn-ea"/>
              <a:cs typeface="+mn-ea"/>
            </a:endParaRPr>
          </a:p>
          <a:p>
            <a:pPr indent="0"/>
            <a:endParaRPr lang="zh-CN" altLang="en-US" sz="1600">
              <a:latin typeface="+mn-ea"/>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189230" y="307975"/>
            <a:ext cx="5435600" cy="8770620"/>
          </a:xfrm>
          <a:prstGeom prst="rect">
            <a:avLst/>
          </a:prstGeom>
          <a:noFill/>
          <a:ln w="9525">
            <a:noFill/>
          </a:ln>
        </p:spPr>
        <p:txBody>
          <a:bodyPr wrap="square">
            <a:spAutoFit/>
          </a:bodyPr>
          <a:p>
            <a:pPr indent="0"/>
            <a:endParaRPr lang="zh-CN" sz="1600" b="1">
              <a:latin typeface="+mn-ea"/>
              <a:cs typeface="+mn-ea"/>
            </a:endParaRPr>
          </a:p>
          <a:p>
            <a:pPr indent="0"/>
            <a:r>
              <a:rPr lang="en-US" altLang="zh-CN" sz="2800" b="0">
                <a:solidFill>
                  <a:schemeClr val="tx1"/>
                </a:solidFill>
                <a:latin typeface="+mn-ea"/>
                <a:cs typeface="+mn-ea"/>
              </a:rPr>
              <a:t>3</a:t>
            </a:r>
            <a:r>
              <a:rPr lang="zh-CN" altLang="en-US" sz="2800" b="0">
                <a:solidFill>
                  <a:schemeClr val="tx1"/>
                </a:solidFill>
                <a:latin typeface="+mn-ea"/>
                <a:cs typeface="+mn-ea"/>
              </a:rPr>
              <a:t>、提出几何公差要求的</a:t>
            </a:r>
            <a:r>
              <a:rPr lang="en-US" altLang="zh-CN" sz="2800" b="0">
                <a:solidFill>
                  <a:schemeClr val="tx1"/>
                </a:solidFill>
                <a:latin typeface="+mn-ea"/>
                <a:cs typeface="+mn-ea"/>
              </a:rPr>
              <a:t>--</a:t>
            </a:r>
            <a:r>
              <a:rPr lang="zh-CN" altLang="en-US" sz="2800" b="0">
                <a:solidFill>
                  <a:schemeClr val="tx1"/>
                </a:solidFill>
                <a:latin typeface="+mn-ea"/>
                <a:cs typeface="+mn-ea"/>
              </a:rPr>
              <a:t>被测要素：是组成要素或基准要素（理想要素），加以限制的是单一要素（形状公差）还是关联（导出中心）要素（位置公差），以确定几何公差标注是否带参考基准</a:t>
            </a:r>
            <a:r>
              <a:rPr lang="en-US" altLang="zh-CN" sz="2800" b="0">
                <a:solidFill>
                  <a:schemeClr val="tx1"/>
                </a:solidFill>
                <a:latin typeface="+mn-ea"/>
                <a:cs typeface="+mn-ea"/>
              </a:rPr>
              <a:t>--</a:t>
            </a:r>
            <a:r>
              <a:rPr lang="zh-CN" altLang="en-US" sz="2800" b="0">
                <a:solidFill>
                  <a:schemeClr val="tx1"/>
                </a:solidFill>
                <a:latin typeface="+mn-ea"/>
                <a:cs typeface="+mn-ea"/>
              </a:rPr>
              <a:t>是</a:t>
            </a:r>
            <a:r>
              <a:rPr lang="zh-CN" altLang="en-US" sz="2800" b="0">
                <a:solidFill>
                  <a:schemeClr val="tx1"/>
                </a:solidFill>
                <a:latin typeface="+mn-ea"/>
                <a:cs typeface="+mn-ea"/>
              </a:rPr>
              <a:t>单一独立基准还是公共基准，这些都非常重要，否则标注就要出错；</a:t>
            </a:r>
            <a:endParaRPr lang="zh-CN" sz="2800" b="0">
              <a:solidFill>
                <a:schemeClr val="tx1"/>
              </a:solidFill>
              <a:latin typeface="+mn-ea"/>
              <a:cs typeface="+mn-ea"/>
            </a:endParaRPr>
          </a:p>
          <a:p>
            <a:pPr indent="0"/>
            <a:r>
              <a:rPr lang="en-US" altLang="zh-CN" sz="2800">
                <a:solidFill>
                  <a:schemeClr val="tx1"/>
                </a:solidFill>
                <a:latin typeface="+mn-ea"/>
                <a:cs typeface="+mn-ea"/>
              </a:rPr>
              <a:t>4</a:t>
            </a:r>
            <a:r>
              <a:rPr lang="zh-CN" altLang="en-US" sz="2800">
                <a:solidFill>
                  <a:schemeClr val="tx1"/>
                </a:solidFill>
                <a:latin typeface="+mn-ea"/>
                <a:cs typeface="+mn-ea"/>
              </a:rPr>
              <a:t>、几何公差图样标注代号：</a:t>
            </a:r>
            <a:endParaRPr lang="zh-CN" altLang="en-US" sz="2800">
              <a:solidFill>
                <a:schemeClr val="tx1"/>
              </a:solidFill>
              <a:latin typeface="+mn-ea"/>
              <a:cs typeface="+mn-ea"/>
            </a:endParaRPr>
          </a:p>
          <a:p>
            <a:pPr indent="0"/>
            <a:r>
              <a:rPr lang="zh-CN" altLang="en-US" sz="2800">
                <a:solidFill>
                  <a:schemeClr val="tx1"/>
                </a:solidFill>
                <a:latin typeface="+mn-ea"/>
                <a:cs typeface="+mn-ea"/>
              </a:rPr>
              <a:t>     </a:t>
            </a:r>
            <a:r>
              <a:rPr lang="zh-CN" altLang="en-US" sz="2800">
                <a:solidFill>
                  <a:srgbClr val="FF0000"/>
                </a:solidFill>
                <a:latin typeface="+mn-ea"/>
                <a:cs typeface="+mn-ea"/>
              </a:rPr>
              <a:t>带</a:t>
            </a:r>
            <a:r>
              <a:rPr lang="en-US" altLang="zh-CN" sz="2800">
                <a:solidFill>
                  <a:srgbClr val="FF0000"/>
                </a:solidFill>
                <a:latin typeface="+mn-ea"/>
                <a:cs typeface="+mn-ea"/>
              </a:rPr>
              <a:t>“</a:t>
            </a:r>
            <a:r>
              <a:rPr lang="en-US" altLang="zh-CN" sz="2800">
                <a:solidFill>
                  <a:srgbClr val="FF0000"/>
                </a:solidFill>
                <a:latin typeface="Arial" panose="020B0604020202020204" pitchFamily="34" charset="0"/>
                <a:cs typeface="Arial" panose="020B0604020202020204" pitchFamily="34" charset="0"/>
              </a:rPr>
              <a:t>→</a:t>
            </a:r>
            <a:r>
              <a:rPr lang="zh-CN" altLang="en-US" sz="2800">
                <a:solidFill>
                  <a:srgbClr val="FF0000"/>
                </a:solidFill>
                <a:latin typeface="+mn-ea"/>
                <a:cs typeface="+mn-ea"/>
              </a:rPr>
              <a:t>箭头</a:t>
            </a:r>
            <a:r>
              <a:rPr lang="en-US" altLang="zh-CN" sz="2800">
                <a:solidFill>
                  <a:srgbClr val="FF0000"/>
                </a:solidFill>
                <a:latin typeface="+mn-ea"/>
                <a:cs typeface="+mn-ea"/>
              </a:rPr>
              <a:t>”</a:t>
            </a:r>
            <a:r>
              <a:rPr lang="zh-CN" altLang="en-US" sz="2800">
                <a:solidFill>
                  <a:srgbClr val="FF0000"/>
                </a:solidFill>
                <a:latin typeface="+mn-ea"/>
                <a:cs typeface="+mn-ea"/>
              </a:rPr>
              <a:t>指引线</a:t>
            </a:r>
            <a:r>
              <a:rPr lang="en-US" altLang="zh-CN" sz="2800">
                <a:solidFill>
                  <a:srgbClr val="FF0000"/>
                </a:solidFill>
                <a:latin typeface="+mn-ea"/>
                <a:cs typeface="+mn-ea"/>
              </a:rPr>
              <a:t>+</a:t>
            </a:r>
            <a:r>
              <a:rPr lang="zh-CN" altLang="en-US" sz="2800">
                <a:solidFill>
                  <a:srgbClr val="FF0000"/>
                </a:solidFill>
                <a:latin typeface="+mn-ea"/>
                <a:cs typeface="+mn-ea"/>
              </a:rPr>
              <a:t>框格</a:t>
            </a:r>
            <a:endParaRPr lang="zh-CN" altLang="en-US" sz="2800">
              <a:solidFill>
                <a:srgbClr val="FF0000"/>
              </a:solidFill>
              <a:latin typeface="+mn-ea"/>
              <a:cs typeface="+mn-ea"/>
            </a:endParaRPr>
          </a:p>
          <a:p>
            <a:pPr indent="0"/>
            <a:r>
              <a:rPr lang="zh-CN" altLang="en-US" sz="2800">
                <a:latin typeface="微软雅黑" panose="020B0503020204020204" pitchFamily="34" charset="-122"/>
                <a:ea typeface="微软雅黑" panose="020B0503020204020204" pitchFamily="34" charset="-122"/>
                <a:cs typeface="+mn-ea"/>
              </a:rPr>
              <a:t>①</a:t>
            </a:r>
            <a:r>
              <a:rPr lang="zh-CN" altLang="en-US" sz="2800">
                <a:latin typeface="+mn-ea"/>
                <a:cs typeface="+mn-ea"/>
              </a:rPr>
              <a:t>形状公差类（无基准）：</a:t>
            </a:r>
            <a:r>
              <a:rPr lang="en-US" altLang="zh-CN" sz="2800">
                <a:latin typeface="+mn-ea"/>
                <a:cs typeface="+mn-ea"/>
              </a:rPr>
              <a:t>2</a:t>
            </a:r>
            <a:r>
              <a:rPr lang="zh-CN" altLang="en-US" sz="2800">
                <a:latin typeface="+mn-ea"/>
                <a:cs typeface="+mn-ea"/>
              </a:rPr>
              <a:t>个框格；</a:t>
            </a:r>
            <a:endParaRPr lang="zh-CN" altLang="en-US" sz="2800">
              <a:latin typeface="+mn-ea"/>
              <a:cs typeface="+mn-ea"/>
            </a:endParaRPr>
          </a:p>
          <a:p>
            <a:pPr indent="0"/>
            <a:r>
              <a:rPr lang="zh-CN" altLang="en-US" sz="2800">
                <a:latin typeface="微软雅黑" panose="020B0503020204020204" pitchFamily="34" charset="-122"/>
                <a:ea typeface="微软雅黑" panose="020B0503020204020204" pitchFamily="34" charset="-122"/>
                <a:cs typeface="+mn-ea"/>
              </a:rPr>
              <a:t>②</a:t>
            </a:r>
            <a:r>
              <a:rPr lang="zh-CN" altLang="en-US" sz="2800">
                <a:latin typeface="+mn-ea"/>
                <a:cs typeface="+mn-ea"/>
              </a:rPr>
              <a:t>位置公差类（必须有参考基准）：至少</a:t>
            </a:r>
            <a:r>
              <a:rPr lang="en-US" altLang="zh-CN" sz="2800">
                <a:latin typeface="+mn-ea"/>
                <a:cs typeface="+mn-ea"/>
              </a:rPr>
              <a:t>3</a:t>
            </a:r>
            <a:r>
              <a:rPr lang="zh-CN" altLang="en-US" sz="2800">
                <a:latin typeface="+mn-ea"/>
                <a:cs typeface="+mn-ea"/>
              </a:rPr>
              <a:t>个框格（带</a:t>
            </a:r>
            <a:r>
              <a:rPr lang="en-US" altLang="zh-CN" sz="2800">
                <a:latin typeface="+mn-ea"/>
                <a:cs typeface="+mn-ea"/>
              </a:rPr>
              <a:t>1</a:t>
            </a:r>
            <a:r>
              <a:rPr lang="zh-CN" altLang="en-US" sz="2800">
                <a:latin typeface="+mn-ea"/>
                <a:cs typeface="+mn-ea"/>
              </a:rPr>
              <a:t>个独立基准</a:t>
            </a:r>
            <a:r>
              <a:rPr lang="en-US" altLang="zh-CN" sz="2800">
                <a:latin typeface="+mn-ea"/>
                <a:cs typeface="+mn-ea"/>
              </a:rPr>
              <a:t>A</a:t>
            </a:r>
            <a:r>
              <a:rPr lang="zh-CN" altLang="en-US" sz="2800">
                <a:latin typeface="+mn-ea"/>
                <a:cs typeface="+mn-ea"/>
              </a:rPr>
              <a:t>或</a:t>
            </a:r>
            <a:r>
              <a:rPr lang="en-US" altLang="zh-CN" sz="2800">
                <a:latin typeface="+mn-ea"/>
                <a:cs typeface="+mn-ea"/>
              </a:rPr>
              <a:t>1</a:t>
            </a:r>
            <a:r>
              <a:rPr lang="zh-CN" altLang="en-US" sz="2800">
                <a:latin typeface="+mn-ea"/>
                <a:cs typeface="+mn-ea"/>
              </a:rPr>
              <a:t>个公共独立基准</a:t>
            </a:r>
            <a:r>
              <a:rPr lang="en-US" altLang="zh-CN" sz="2800">
                <a:latin typeface="+mn-ea"/>
                <a:cs typeface="+mn-ea"/>
              </a:rPr>
              <a:t>A</a:t>
            </a:r>
            <a:r>
              <a:rPr lang="en-US" altLang="zh-CN" sz="2800">
                <a:latin typeface="宋体" panose="02010600030101010101" pitchFamily="2" charset="-122"/>
                <a:ea typeface="宋体" panose="02010600030101010101" pitchFamily="2" charset="-122"/>
                <a:cs typeface="+mn-ea"/>
              </a:rPr>
              <a:t>－</a:t>
            </a:r>
            <a:r>
              <a:rPr lang="en-US" altLang="zh-CN" sz="2800">
                <a:latin typeface="+mn-ea"/>
                <a:cs typeface="+mn-ea"/>
              </a:rPr>
              <a:t>B)</a:t>
            </a:r>
            <a:endParaRPr lang="zh-CN" altLang="en-US" sz="2800">
              <a:latin typeface="+mn-ea"/>
              <a:cs typeface="+mn-ea"/>
            </a:endParaRPr>
          </a:p>
          <a:p>
            <a:pPr indent="0"/>
            <a:r>
              <a:rPr lang="zh-CN" altLang="en-US" sz="2800">
                <a:latin typeface="+mn-ea"/>
                <a:cs typeface="+mn-ea"/>
              </a:rPr>
              <a:t>亦或</a:t>
            </a:r>
            <a:r>
              <a:rPr lang="en-US" altLang="zh-CN" sz="2800">
                <a:latin typeface="+mn-ea"/>
                <a:cs typeface="+mn-ea"/>
              </a:rPr>
              <a:t>4</a:t>
            </a:r>
            <a:r>
              <a:rPr lang="zh-CN" altLang="en-US" sz="2800">
                <a:latin typeface="+mn-ea"/>
                <a:cs typeface="+mn-ea"/>
              </a:rPr>
              <a:t>个框格（带</a:t>
            </a:r>
            <a:r>
              <a:rPr lang="en-US" altLang="zh-CN" sz="2800">
                <a:latin typeface="+mn-ea"/>
                <a:cs typeface="+mn-ea"/>
              </a:rPr>
              <a:t>2</a:t>
            </a:r>
            <a:r>
              <a:rPr lang="zh-CN" altLang="en-US" sz="2800">
                <a:latin typeface="+mn-ea"/>
                <a:cs typeface="+mn-ea"/>
              </a:rPr>
              <a:t>个独立基准</a:t>
            </a:r>
            <a:r>
              <a:rPr lang="en-US" altLang="zh-CN" sz="2800">
                <a:latin typeface="+mn-ea"/>
                <a:cs typeface="+mn-ea"/>
              </a:rPr>
              <a:t>A</a:t>
            </a:r>
            <a:r>
              <a:rPr lang="zh-CN" altLang="en-US" sz="2800">
                <a:latin typeface="+mn-ea"/>
                <a:cs typeface="+mn-ea"/>
              </a:rPr>
              <a:t>，</a:t>
            </a:r>
            <a:r>
              <a:rPr lang="en-US" altLang="zh-CN" sz="2800">
                <a:latin typeface="+mn-ea"/>
                <a:cs typeface="+mn-ea"/>
              </a:rPr>
              <a:t>B</a:t>
            </a:r>
            <a:r>
              <a:rPr lang="zh-CN" altLang="en-US" sz="2800">
                <a:latin typeface="+mn-ea"/>
                <a:cs typeface="+mn-ea"/>
              </a:rPr>
              <a:t>），最多</a:t>
            </a:r>
            <a:r>
              <a:rPr lang="en-US" altLang="zh-CN" sz="2800">
                <a:latin typeface="+mn-ea"/>
                <a:cs typeface="+mn-ea"/>
              </a:rPr>
              <a:t>5</a:t>
            </a:r>
            <a:r>
              <a:rPr lang="zh-CN" altLang="en-US" sz="2800">
                <a:latin typeface="+mn-ea"/>
                <a:cs typeface="+mn-ea"/>
              </a:rPr>
              <a:t>个框格</a:t>
            </a:r>
            <a:r>
              <a:rPr lang="en-US" altLang="zh-CN" sz="2800">
                <a:latin typeface="+mn-ea"/>
                <a:cs typeface="+mn-ea"/>
              </a:rPr>
              <a:t>(</a:t>
            </a:r>
            <a:r>
              <a:rPr lang="zh-CN" altLang="en-US" sz="2800">
                <a:latin typeface="+mn-ea"/>
                <a:cs typeface="+mn-ea"/>
              </a:rPr>
              <a:t>带</a:t>
            </a:r>
            <a:r>
              <a:rPr lang="en-US" altLang="zh-CN" sz="2800">
                <a:latin typeface="+mn-ea"/>
                <a:cs typeface="+mn-ea"/>
              </a:rPr>
              <a:t>3</a:t>
            </a:r>
            <a:r>
              <a:rPr lang="zh-CN" altLang="en-US" sz="2800">
                <a:latin typeface="+mn-ea"/>
                <a:cs typeface="+mn-ea"/>
              </a:rPr>
              <a:t>个独立基准</a:t>
            </a:r>
            <a:r>
              <a:rPr lang="en-US" altLang="zh-CN" sz="2800">
                <a:latin typeface="+mn-ea"/>
                <a:cs typeface="+mn-ea"/>
              </a:rPr>
              <a:t>A,B,C</a:t>
            </a:r>
            <a:r>
              <a:rPr lang="en-US" altLang="zh-CN" sz="2800">
                <a:latin typeface="+mn-ea"/>
                <a:cs typeface="+mn-ea"/>
              </a:rPr>
              <a:t>)</a:t>
            </a:r>
            <a:endParaRPr lang="zh-CN" altLang="en-US" sz="2800">
              <a:latin typeface="+mn-ea"/>
              <a:cs typeface="+mn-ea"/>
            </a:endParaRPr>
          </a:p>
          <a:p>
            <a:pPr indent="0"/>
            <a:endParaRPr lang="zh-CN" altLang="en-US" sz="1600">
              <a:latin typeface="+mn-ea"/>
              <a:cs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144780" y="307975"/>
            <a:ext cx="5426075" cy="8832215"/>
          </a:xfrm>
          <a:prstGeom prst="rect">
            <a:avLst/>
          </a:prstGeom>
          <a:noFill/>
          <a:ln w="9525">
            <a:noFill/>
          </a:ln>
        </p:spPr>
        <p:txBody>
          <a:bodyPr wrap="square">
            <a:spAutoFit/>
          </a:bodyPr>
          <a:p>
            <a:pPr indent="0"/>
            <a:r>
              <a:rPr lang="en-US" altLang="zh-CN" sz="2800">
                <a:latin typeface="+mn-ea"/>
                <a:cs typeface="+mn-ea"/>
              </a:rPr>
              <a:t>5</a:t>
            </a:r>
            <a:r>
              <a:rPr lang="zh-CN" altLang="en-US" sz="2800">
                <a:latin typeface="+mn-ea"/>
                <a:cs typeface="+mn-ea"/>
              </a:rPr>
              <a:t>、几何公差框格带箭头指向</a:t>
            </a:r>
            <a:r>
              <a:rPr lang="zh-CN" altLang="en-US" sz="2800">
                <a:latin typeface="Arial" panose="020B0604020202020204" pitchFamily="34" charset="0"/>
                <a:cs typeface="Arial" panose="020B0604020202020204" pitchFamily="34" charset="0"/>
              </a:rPr>
              <a:t>→提取被测要素（点、线、面），</a:t>
            </a:r>
            <a:endParaRPr lang="zh-CN" altLang="en-US" sz="2800">
              <a:latin typeface="+mn-ea"/>
              <a:cs typeface="+mn-ea"/>
            </a:endParaRPr>
          </a:p>
          <a:p>
            <a:pPr indent="0"/>
            <a:r>
              <a:rPr lang="en-US" altLang="zh-CN" sz="2800">
                <a:solidFill>
                  <a:srgbClr val="FF0000"/>
                </a:solidFill>
                <a:latin typeface="+mn-ea"/>
                <a:cs typeface="+mn-ea"/>
                <a:sym typeface="+mn-ea"/>
              </a:rPr>
              <a:t>“</a:t>
            </a:r>
            <a:r>
              <a:rPr lang="zh-CN" altLang="en-US" sz="2800">
                <a:solidFill>
                  <a:srgbClr val="FF0000"/>
                </a:solidFill>
                <a:latin typeface="+mn-ea"/>
                <a:cs typeface="+mn-ea"/>
                <a:sym typeface="+mn-ea"/>
              </a:rPr>
              <a:t>箭头指向</a:t>
            </a:r>
            <a:r>
              <a:rPr lang="zh-CN" altLang="en-US" sz="2800">
                <a:solidFill>
                  <a:srgbClr val="FF0000"/>
                </a:solidFill>
                <a:latin typeface="Arial" panose="020B0604020202020204" pitchFamily="34" charset="0"/>
                <a:cs typeface="Arial" panose="020B0604020202020204" pitchFamily="34" charset="0"/>
                <a:sym typeface="+mn-ea"/>
              </a:rPr>
              <a:t>→</a:t>
            </a:r>
            <a:r>
              <a:rPr lang="en-US" altLang="zh-CN" sz="2800">
                <a:solidFill>
                  <a:srgbClr val="FF0000"/>
                </a:solidFill>
                <a:latin typeface="Arial" panose="020B0604020202020204" pitchFamily="34" charset="0"/>
                <a:cs typeface="Arial" panose="020B0604020202020204" pitchFamily="34" charset="0"/>
                <a:sym typeface="+mn-ea"/>
              </a:rPr>
              <a:t>”</a:t>
            </a:r>
            <a:r>
              <a:rPr lang="zh-CN" altLang="en-US" sz="2800">
                <a:latin typeface="Arial" panose="020B0604020202020204" pitchFamily="34" charset="0"/>
                <a:cs typeface="Arial" panose="020B0604020202020204" pitchFamily="34" charset="0"/>
                <a:sym typeface="+mn-ea"/>
              </a:rPr>
              <a:t>很重要，大家最容易搞错，指向哪提取了</a:t>
            </a:r>
            <a:r>
              <a:rPr lang="en-US" altLang="zh-CN" sz="2800">
                <a:latin typeface="Arial" panose="020B0604020202020204" pitchFamily="34" charset="0"/>
                <a:cs typeface="Arial" panose="020B0604020202020204" pitchFamily="34" charset="0"/>
                <a:sym typeface="+mn-ea"/>
              </a:rPr>
              <a:t>“</a:t>
            </a:r>
            <a:r>
              <a:rPr lang="zh-CN" altLang="en-US" sz="2800">
                <a:latin typeface="Arial" panose="020B0604020202020204" pitchFamily="34" charset="0"/>
                <a:cs typeface="Arial" panose="020B0604020202020204" pitchFamily="34" charset="0"/>
                <a:sym typeface="+mn-ea"/>
              </a:rPr>
              <a:t>什么要素</a:t>
            </a:r>
            <a:r>
              <a:rPr lang="en-US" altLang="zh-CN" sz="2800">
                <a:latin typeface="Arial" panose="020B0604020202020204" pitchFamily="34" charset="0"/>
                <a:cs typeface="Arial" panose="020B0604020202020204" pitchFamily="34" charset="0"/>
                <a:sym typeface="+mn-ea"/>
              </a:rPr>
              <a:t>”</a:t>
            </a:r>
            <a:endParaRPr lang="zh-CN" altLang="en-US" sz="2800">
              <a:latin typeface="+mn-ea"/>
              <a:cs typeface="+mn-ea"/>
            </a:endParaRPr>
          </a:p>
          <a:p>
            <a:pPr indent="0"/>
            <a:r>
              <a:rPr lang="zh-CN" altLang="en-US" sz="2800">
                <a:latin typeface="+mn-ea"/>
                <a:cs typeface="+mn-ea"/>
              </a:rPr>
              <a:t>？心中要有数，特征项目与提取的被测要素是否可比较？尤其带基准的，特征项目与被测要素不可比较</a:t>
            </a:r>
            <a:r>
              <a:rPr lang="en-US" altLang="zh-CN" sz="2800">
                <a:latin typeface="+mn-ea"/>
                <a:cs typeface="+mn-ea"/>
              </a:rPr>
              <a:t>--</a:t>
            </a:r>
            <a:r>
              <a:rPr lang="zh-CN" altLang="en-US" sz="2800">
                <a:latin typeface="+mn-ea"/>
                <a:cs typeface="+mn-ea"/>
              </a:rPr>
              <a:t>产生逻辑错误，亦或虽可比较，但无实际工程意义。这说明提取被测或基准要素（基准三角形底边接触对齐提取的）出错，心与愿为。</a:t>
            </a:r>
            <a:endParaRPr lang="zh-CN" altLang="en-US" sz="2800">
              <a:latin typeface="+mn-ea"/>
              <a:cs typeface="+mn-ea"/>
            </a:endParaRPr>
          </a:p>
          <a:p>
            <a:pPr indent="0"/>
            <a:r>
              <a:rPr lang="zh-CN" altLang="en-US" sz="2800">
                <a:solidFill>
                  <a:srgbClr val="FF0000"/>
                </a:solidFill>
                <a:latin typeface="+mn-ea"/>
                <a:cs typeface="+mn-ea"/>
                <a:sym typeface="+mn-ea"/>
              </a:rPr>
              <a:t>国标规定记住：</a:t>
            </a:r>
            <a:r>
              <a:rPr lang="en-US" altLang="zh-CN" sz="2800">
                <a:solidFill>
                  <a:srgbClr val="FF0000"/>
                </a:solidFill>
                <a:latin typeface="+mn-ea"/>
                <a:cs typeface="+mn-ea"/>
                <a:sym typeface="+mn-ea"/>
              </a:rPr>
              <a:t>“</a:t>
            </a:r>
            <a:r>
              <a:rPr lang="zh-CN" altLang="en-US" sz="2800">
                <a:solidFill>
                  <a:srgbClr val="FF0000"/>
                </a:solidFill>
                <a:latin typeface="+mn-ea"/>
                <a:cs typeface="+mn-ea"/>
                <a:sym typeface="+mn-ea"/>
              </a:rPr>
              <a:t>箭头指向→</a:t>
            </a:r>
            <a:r>
              <a:rPr lang="en-US" altLang="zh-CN" sz="2800">
                <a:solidFill>
                  <a:srgbClr val="FF0000"/>
                </a:solidFill>
                <a:latin typeface="+mn-ea"/>
                <a:cs typeface="+mn-ea"/>
                <a:sym typeface="+mn-ea"/>
              </a:rPr>
              <a:t>”</a:t>
            </a:r>
            <a:r>
              <a:rPr lang="zh-CN" altLang="en-US" sz="2800">
                <a:solidFill>
                  <a:srgbClr val="FF0000"/>
                </a:solidFill>
                <a:latin typeface="+mn-ea"/>
                <a:cs typeface="+mn-ea"/>
                <a:sym typeface="+mn-ea"/>
              </a:rPr>
              <a:t>垂直</a:t>
            </a:r>
            <a:r>
              <a:rPr lang="zh-CN" altLang="en-US" sz="2800">
                <a:solidFill>
                  <a:srgbClr val="FF0000"/>
                </a:solidFill>
                <a:latin typeface="+mn-ea"/>
                <a:cs typeface="+mn-ea"/>
                <a:sym typeface="+mn-ea"/>
              </a:rPr>
              <a:t>接触到</a:t>
            </a:r>
            <a:r>
              <a:rPr lang="zh-CN" altLang="en-US" sz="2800">
                <a:solidFill>
                  <a:srgbClr val="FF0000"/>
                </a:solidFill>
                <a:latin typeface="+mn-ea"/>
                <a:cs typeface="+mn-ea"/>
                <a:sym typeface="+mn-ea"/>
              </a:rPr>
              <a:t>被测轮廓线，或轮廓线的延长线，或标注尺寸线（直径、高度、宽度、长度、角度等）对齐，才能真正提取出来，否则提取出错！</a:t>
            </a:r>
            <a:endParaRPr lang="zh-CN" altLang="en-US" sz="28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174625" y="307975"/>
            <a:ext cx="5321935" cy="8524240"/>
          </a:xfrm>
          <a:prstGeom prst="rect">
            <a:avLst/>
          </a:prstGeom>
          <a:noFill/>
          <a:ln w="9525">
            <a:noFill/>
          </a:ln>
        </p:spPr>
        <p:txBody>
          <a:bodyPr wrap="square">
            <a:spAutoFit/>
          </a:bodyPr>
          <a:p>
            <a:pPr indent="0"/>
            <a:r>
              <a:rPr lang="en-US" altLang="zh-CN" sz="2400" b="0">
                <a:solidFill>
                  <a:schemeClr val="tx1"/>
                </a:solidFill>
                <a:latin typeface="+mn-ea"/>
                <a:cs typeface="+mn-ea"/>
              </a:rPr>
              <a:t>6</a:t>
            </a:r>
            <a:r>
              <a:rPr lang="zh-CN" altLang="en-US" sz="2400" b="0">
                <a:solidFill>
                  <a:schemeClr val="tx1"/>
                </a:solidFill>
                <a:latin typeface="+mn-ea"/>
                <a:cs typeface="+mn-ea"/>
              </a:rPr>
              <a:t>、根据零件轮廓的形状公差和方向、位置及跳动公差，在选择</a:t>
            </a:r>
            <a:r>
              <a:rPr lang="zh-CN" altLang="en-US" sz="2400" b="0">
                <a:solidFill>
                  <a:srgbClr val="FF0000"/>
                </a:solidFill>
                <a:latin typeface="+mn-ea"/>
                <a:cs typeface="+mn-ea"/>
              </a:rPr>
              <a:t>几何公差特征项目标注时要明白的一些常识：</a:t>
            </a:r>
            <a:endParaRPr lang="zh-CN" altLang="en-US" sz="2400" b="0">
              <a:solidFill>
                <a:schemeClr val="tx1"/>
              </a:solidFill>
              <a:latin typeface="+mn-ea"/>
              <a:cs typeface="+mn-ea"/>
            </a:endParaRPr>
          </a:p>
          <a:p>
            <a:pPr indent="0"/>
            <a:endParaRPr lang="zh-CN" sz="2400" b="0">
              <a:solidFill>
                <a:srgbClr val="FF0000"/>
              </a:solidFill>
              <a:latin typeface="+mn-ea"/>
              <a:cs typeface="+mn-ea"/>
            </a:endParaRPr>
          </a:p>
          <a:p>
            <a:pPr indent="0"/>
            <a:r>
              <a:rPr lang="zh-CN" altLang="en-US" sz="2400">
                <a:latin typeface="微软雅黑" panose="020B0503020204020204" pitchFamily="34" charset="-122"/>
                <a:ea typeface="微软雅黑" panose="020B0503020204020204" pitchFamily="34" charset="-122"/>
                <a:cs typeface="+mn-ea"/>
              </a:rPr>
              <a:t>①点、线、中心线、中心轴线，无所谓圆度、圆柱度、平面度、圆跳动、表面粗糙度等；</a:t>
            </a:r>
            <a:endParaRPr lang="zh-CN" altLang="en-US" sz="2400">
              <a:latin typeface="+mn-ea"/>
              <a:cs typeface="+mn-ea"/>
            </a:endParaRPr>
          </a:p>
          <a:p>
            <a:pPr indent="0"/>
            <a:endParaRPr lang="zh-CN" altLang="en-US" sz="2400">
              <a:latin typeface="微软雅黑" panose="020B0503020204020204" pitchFamily="34" charset="-122"/>
              <a:ea typeface="微软雅黑" panose="020B0503020204020204" pitchFamily="34" charset="-122"/>
              <a:cs typeface="+mn-ea"/>
            </a:endParaRPr>
          </a:p>
          <a:p>
            <a:pPr indent="0"/>
            <a:r>
              <a:rPr lang="zh-CN" altLang="en-US" sz="2400">
                <a:latin typeface="微软雅黑" panose="020B0503020204020204" pitchFamily="34" charset="-122"/>
                <a:ea typeface="微软雅黑" panose="020B0503020204020204" pitchFamily="34" charset="-122"/>
                <a:cs typeface="+mn-ea"/>
              </a:rPr>
              <a:t>②零件轮廓线按机械制图视图投影画法：轴、套等回转体，组成轴和孔的上下轮廓</a:t>
            </a:r>
            <a:r>
              <a:rPr lang="en-US" altLang="zh-CN" sz="2400">
                <a:latin typeface="微软雅黑" panose="020B0503020204020204" pitchFamily="34" charset="-122"/>
                <a:ea typeface="微软雅黑" panose="020B0503020204020204" pitchFamily="34" charset="-122"/>
                <a:cs typeface="+mn-ea"/>
              </a:rPr>
              <a:t>“</a:t>
            </a:r>
            <a:r>
              <a:rPr lang="zh-CN" altLang="en-US" sz="2400">
                <a:latin typeface="微软雅黑" panose="020B0503020204020204" pitchFamily="34" charset="-122"/>
                <a:ea typeface="微软雅黑" panose="020B0503020204020204" pitchFamily="34" charset="-122"/>
                <a:cs typeface="+mn-ea"/>
              </a:rPr>
              <a:t>母线</a:t>
            </a:r>
            <a:r>
              <a:rPr lang="en-US" altLang="zh-CN" sz="2400">
                <a:latin typeface="微软雅黑" panose="020B0503020204020204" pitchFamily="34" charset="-122"/>
                <a:ea typeface="微软雅黑" panose="020B0503020204020204" pitchFamily="34" charset="-122"/>
                <a:cs typeface="+mn-ea"/>
              </a:rPr>
              <a:t>”</a:t>
            </a:r>
            <a:r>
              <a:rPr lang="zh-CN" altLang="en-US" sz="2400">
                <a:latin typeface="微软雅黑" panose="020B0503020204020204" pitchFamily="34" charset="-122"/>
                <a:ea typeface="微软雅黑" panose="020B0503020204020204" pitchFamily="34" charset="-122"/>
                <a:cs typeface="+mn-ea"/>
              </a:rPr>
              <a:t>及其回转中心点划线，方形件、箱体、支座、各种槽类型面等，组成要素及基准要素有：底平面、侧面、顶面、孔内平面、槽底（侧）面、安装定位面、结合面、（导出）对称中心平面、成形表面、各种组成轮廓线等。</a:t>
            </a:r>
            <a:endParaRPr lang="zh-CN" altLang="en-US" sz="2400">
              <a:latin typeface="微软雅黑" panose="020B0503020204020204" pitchFamily="34" charset="-122"/>
              <a:ea typeface="微软雅黑" panose="020B0503020204020204" pitchFamily="34" charset="-122"/>
              <a:cs typeface="+mn-ea"/>
            </a:endParaRPr>
          </a:p>
          <a:p>
            <a:pPr indent="0"/>
            <a:endParaRPr lang="zh-CN" altLang="en-US" sz="2400">
              <a:latin typeface="+mn-ea"/>
              <a:cs typeface="+mn-ea"/>
            </a:endParaRPr>
          </a:p>
          <a:p>
            <a:pPr indent="0"/>
            <a:r>
              <a:rPr lang="zh-CN" altLang="en-US" sz="2400">
                <a:latin typeface="微软雅黑" panose="020B0503020204020204" pitchFamily="34" charset="-122"/>
                <a:ea typeface="微软雅黑" panose="020B0503020204020204" pitchFamily="34" charset="-122"/>
                <a:cs typeface="+mn-ea"/>
              </a:rPr>
              <a:t>③平面无所谓有直线度、线轮廓度、面轮廓度、同轴度、圆跳动，而是有平面度、垂直度、倾斜度、对称度、表面粗糙度等</a:t>
            </a:r>
            <a:r>
              <a:rPr lang="zh-CN" altLang="en-US" sz="2800">
                <a:latin typeface="微软雅黑" panose="020B0503020204020204" pitchFamily="34" charset="-122"/>
                <a:ea typeface="微软雅黑" panose="020B0503020204020204" pitchFamily="34" charset="-122"/>
                <a:cs typeface="+mn-ea"/>
              </a:rPr>
              <a:t>。</a:t>
            </a:r>
            <a:endParaRPr lang="zh-CN" altLang="en-US" sz="1600">
              <a:latin typeface="+mn-ea"/>
              <a:cs typeface="+mn-ea"/>
            </a:endParaRPr>
          </a:p>
          <a:p>
            <a:pPr indent="0"/>
            <a:endParaRPr lang="zh-CN" altLang="en-US" sz="1600">
              <a:latin typeface="+mn-ea"/>
              <a:cs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0" y="280035"/>
            <a:ext cx="5624830" cy="8709025"/>
          </a:xfrm>
          <a:prstGeom prst="rect">
            <a:avLst/>
          </a:prstGeom>
          <a:noFill/>
          <a:ln w="9525">
            <a:noFill/>
          </a:ln>
        </p:spPr>
        <p:txBody>
          <a:bodyPr wrap="square">
            <a:spAutoFit/>
          </a:bodyPr>
          <a:p>
            <a:pPr indent="0"/>
            <a:endParaRPr lang="zh-CN" sz="1600" b="1">
              <a:latin typeface="+mn-ea"/>
              <a:cs typeface="+mn-ea"/>
            </a:endParaRPr>
          </a:p>
          <a:p>
            <a:pPr indent="0"/>
            <a:r>
              <a:rPr lang="zh-CN" sz="2800" b="0">
                <a:solidFill>
                  <a:schemeClr val="tx1"/>
                </a:solidFill>
                <a:latin typeface="+mn-ea"/>
                <a:cs typeface="+mn-ea"/>
              </a:rPr>
              <a:t>     最后给大家画了一个某零件设计图样有关标注存在多处不规范和错误的地方，并用</a:t>
            </a:r>
            <a:r>
              <a:rPr lang="zh-CN" sz="2800" b="0">
                <a:solidFill>
                  <a:srgbClr val="FF0000"/>
                </a:solidFill>
                <a:latin typeface="+mn-ea"/>
                <a:cs typeface="+mn-ea"/>
              </a:rPr>
              <a:t>图解法文字辅导讲解示范</a:t>
            </a:r>
            <a:r>
              <a:rPr lang="zh-CN" sz="2800" b="0">
                <a:solidFill>
                  <a:schemeClr val="tx1"/>
                </a:solidFill>
                <a:latin typeface="+mn-ea"/>
                <a:cs typeface="+mn-ea"/>
              </a:rPr>
              <a:t>，比较拥挤，不太清楚，希望同学们好好看看，不知能够看明白吗？</a:t>
            </a:r>
            <a:endParaRPr lang="zh-CN" sz="2800" b="0">
              <a:solidFill>
                <a:schemeClr val="tx1"/>
              </a:solidFill>
              <a:latin typeface="+mn-ea"/>
              <a:cs typeface="+mn-ea"/>
            </a:endParaRPr>
          </a:p>
          <a:p>
            <a:pPr indent="0"/>
            <a:endParaRPr lang="zh-CN" altLang="en-US" sz="2000">
              <a:solidFill>
                <a:schemeClr val="tx1"/>
              </a:solidFill>
              <a:latin typeface="+mn-ea"/>
              <a:cs typeface="+mn-ea"/>
            </a:endParaRPr>
          </a:p>
          <a:p>
            <a:pPr indent="0"/>
            <a:r>
              <a:rPr lang="zh-CN" altLang="en-US" sz="2800">
                <a:solidFill>
                  <a:srgbClr val="FF0000"/>
                </a:solidFill>
                <a:latin typeface="+mn-ea"/>
                <a:cs typeface="+mn-ea"/>
              </a:rPr>
              <a:t>请看下页所示：</a:t>
            </a:r>
            <a:r>
              <a:rPr lang="zh-CN" altLang="en-US" sz="4000">
                <a:solidFill>
                  <a:srgbClr val="FF0000"/>
                </a:solidFill>
                <a:latin typeface="宋体" panose="02010600030101010101" pitchFamily="2" charset="-122"/>
                <a:ea typeface="宋体" panose="02010600030101010101" pitchFamily="2" charset="-122"/>
                <a:cs typeface="+mn-ea"/>
              </a:rPr>
              <a:t>↙</a:t>
            </a:r>
            <a:endParaRPr lang="zh-CN" altLang="en-US" sz="4000">
              <a:solidFill>
                <a:srgbClr val="FF0000"/>
              </a:solidFill>
              <a:latin typeface="+mn-ea"/>
              <a:cs typeface="+mn-ea"/>
            </a:endParaRPr>
          </a:p>
          <a:p>
            <a:pPr indent="0"/>
            <a:endParaRPr lang="zh-CN" altLang="en-US" sz="1600">
              <a:solidFill>
                <a:srgbClr val="FF0000"/>
              </a:solidFill>
              <a:latin typeface="+mn-ea"/>
              <a:cs typeface="+mn-ea"/>
            </a:endParaRPr>
          </a:p>
          <a:p>
            <a:pPr indent="0"/>
            <a:r>
              <a:rPr lang="zh-CN" altLang="en-US" sz="2800">
                <a:latin typeface="微软雅黑" panose="020B0503020204020204" pitchFamily="34" charset="-122"/>
                <a:ea typeface="微软雅黑" panose="020B0503020204020204" pitchFamily="34" charset="-122"/>
                <a:cs typeface="+mn-ea"/>
              </a:rPr>
              <a:t>图中： 打</a:t>
            </a:r>
            <a:r>
              <a:rPr lang="zh-CN" altLang="en-US" sz="2800">
                <a:solidFill>
                  <a:srgbClr val="FF0000"/>
                </a:solidFill>
                <a:latin typeface="微软雅黑" panose="020B0503020204020204" pitchFamily="34" charset="-122"/>
                <a:ea typeface="微软雅黑" panose="020B0503020204020204" pitchFamily="34" charset="-122"/>
                <a:cs typeface="+mn-ea"/>
              </a:rPr>
              <a:t>√，表示标注的是对的</a:t>
            </a:r>
            <a:endParaRPr lang="zh-CN" altLang="en-US" sz="2800">
              <a:latin typeface="+mn-ea"/>
              <a:cs typeface="+mn-ea"/>
            </a:endParaRPr>
          </a:p>
          <a:p>
            <a:pPr indent="0"/>
            <a:endParaRPr lang="zh-CN" altLang="en-US" sz="1600">
              <a:latin typeface="+mn-ea"/>
              <a:cs typeface="+mn-ea"/>
            </a:endParaRPr>
          </a:p>
          <a:p>
            <a:pPr indent="0"/>
            <a:r>
              <a:rPr lang="zh-CN" altLang="en-US" sz="1600">
                <a:latin typeface="+mn-ea"/>
                <a:cs typeface="+mn-ea"/>
              </a:rPr>
              <a:t>                   </a:t>
            </a:r>
            <a:r>
              <a:rPr lang="zh-CN" altLang="en-US" sz="2800">
                <a:latin typeface="+mn-ea"/>
                <a:cs typeface="+mn-ea"/>
              </a:rPr>
              <a:t>打</a:t>
            </a:r>
            <a:r>
              <a:rPr lang="zh-CN" altLang="en-US" sz="3600">
                <a:solidFill>
                  <a:srgbClr val="FF0000"/>
                </a:solidFill>
                <a:latin typeface="Arial" panose="020B0604020202020204" pitchFamily="34" charset="0"/>
                <a:cs typeface="+mn-ea"/>
              </a:rPr>
              <a:t>×</a:t>
            </a:r>
            <a:r>
              <a:rPr lang="zh-CN" altLang="en-US" sz="2800">
                <a:solidFill>
                  <a:srgbClr val="FF0000"/>
                </a:solidFill>
                <a:latin typeface="Arial" panose="020B0604020202020204" pitchFamily="34" charset="0"/>
                <a:cs typeface="+mn-ea"/>
              </a:rPr>
              <a:t>，</a:t>
            </a:r>
            <a:r>
              <a:rPr lang="zh-CN" altLang="en-US" sz="2800">
                <a:solidFill>
                  <a:srgbClr val="FF0000"/>
                </a:solidFill>
                <a:latin typeface="微软雅黑" panose="020B0503020204020204" pitchFamily="34" charset="-122"/>
                <a:ea typeface="微软雅黑" panose="020B0503020204020204" pitchFamily="34" charset="-122"/>
                <a:cs typeface="+mn-ea"/>
                <a:sym typeface="+mn-ea"/>
              </a:rPr>
              <a:t>表示标注的是错误的</a:t>
            </a:r>
            <a:endParaRPr lang="zh-CN" altLang="en-US" sz="2800">
              <a:latin typeface="+mn-ea"/>
              <a:cs typeface="+mn-ea"/>
            </a:endParaRPr>
          </a:p>
          <a:p>
            <a:pPr indent="0"/>
            <a:r>
              <a:rPr lang="zh-CN" altLang="en-US" sz="1600">
                <a:latin typeface="+mn-ea"/>
                <a:cs typeface="+mn-ea"/>
              </a:rPr>
              <a:t>                        </a:t>
            </a:r>
            <a:r>
              <a:rPr lang="zh-CN" altLang="en-US" sz="2800">
                <a:latin typeface="+mn-ea"/>
                <a:cs typeface="+mn-ea"/>
              </a:rPr>
              <a:t>（同时还列举标注了几处同类标注错误，改错时出现这样的标注都是不规范的，都是错误的，改正时就选择一个正确的标注就可以了）。</a:t>
            </a:r>
            <a:endParaRPr lang="zh-CN" altLang="en-US" sz="28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0" y="340360"/>
            <a:ext cx="5715000" cy="8462645"/>
          </a:xfrm>
          <a:prstGeom prst="rect">
            <a:avLst/>
          </a:prstGeom>
          <a:noFill/>
          <a:ln w="9525">
            <a:noFill/>
          </a:ln>
        </p:spPr>
        <p:txBody>
          <a:bodyPr wrap="square">
            <a:spAutoFit/>
          </a:bodyPr>
          <a:p>
            <a:pPr indent="0"/>
            <a:endParaRPr lang="zh-CN" sz="1600" b="1">
              <a:latin typeface="+mn-ea"/>
              <a:cs typeface="+mn-ea"/>
            </a:endParaRPr>
          </a:p>
          <a:p>
            <a:pPr indent="0"/>
            <a:r>
              <a:rPr lang="en-US" altLang="zh-CN" sz="1600" b="0">
                <a:solidFill>
                  <a:srgbClr val="FF0000"/>
                </a:solidFill>
                <a:latin typeface="+mn-ea"/>
                <a:cs typeface="+mn-ea"/>
              </a:rPr>
              <a:t>.</a:t>
            </a:r>
            <a:endParaRPr lang="zh-CN" sz="1600" b="0">
              <a:solidFill>
                <a:srgbClr val="FF0000"/>
              </a:solidFill>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p:txBody>
      </p:sp>
      <p:pic>
        <p:nvPicPr>
          <p:cNvPr id="5" name="图片 4"/>
          <p:cNvPicPr>
            <a:picLocks noChangeAspect="1"/>
          </p:cNvPicPr>
          <p:nvPr/>
        </p:nvPicPr>
        <p:blipFill>
          <a:blip r:embed="rId1"/>
          <a:srcRect l="29623" t="28664" r="4326" b="29000"/>
          <a:stretch>
            <a:fillRect/>
          </a:stretch>
        </p:blipFill>
        <p:spPr>
          <a:xfrm>
            <a:off x="-163830" y="0"/>
            <a:ext cx="5868000" cy="91255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4775" y="436245"/>
            <a:ext cx="5468620" cy="8709025"/>
          </a:xfrm>
          <a:prstGeom prst="rect">
            <a:avLst/>
          </a:prstGeom>
          <a:noFill/>
          <a:ln w="9525">
            <a:noFill/>
          </a:ln>
        </p:spPr>
        <p:txBody>
          <a:bodyPr wrap="square">
            <a:spAutoFit/>
          </a:bodyPr>
          <a:p>
            <a:pPr marL="323850" indent="-323850"/>
            <a:r>
              <a:rPr lang="zh-CN" sz="1200" b="1">
                <a:ea typeface="宋体" panose="02010600030101010101" pitchFamily="2" charset="-122"/>
              </a:rPr>
              <a:t>一</a:t>
            </a:r>
            <a:r>
              <a:rPr lang="zh-CN" sz="1050" b="1">
                <a:ea typeface="宋体" panose="02010600030101010101" pitchFamily="2" charset="-122"/>
              </a:rPr>
              <a:t>、</a:t>
            </a:r>
            <a:r>
              <a:rPr lang="en-US" b="1">
                <a:latin typeface="+mn-ea"/>
                <a:cs typeface="+mn-ea"/>
              </a:rPr>
              <a:t> </a:t>
            </a:r>
            <a:r>
              <a:rPr lang="zh-CN" altLang="en-US" b="1">
                <a:latin typeface="+mn-ea"/>
                <a:cs typeface="+mn-ea"/>
              </a:rPr>
              <a:t>图样标注题</a:t>
            </a:r>
            <a:r>
              <a:rPr lang="zh-CN" sz="1400" b="1">
                <a:latin typeface="+mn-ea"/>
                <a:cs typeface="+mn-ea"/>
              </a:rPr>
              <a:t>（</a:t>
            </a:r>
            <a:r>
              <a:rPr lang="en-US" altLang="zh-CN" sz="1400" b="1">
                <a:latin typeface="+mn-ea"/>
                <a:cs typeface="+mn-ea"/>
              </a:rPr>
              <a:t>3</a:t>
            </a:r>
            <a:r>
              <a:rPr lang="zh-CN" altLang="en-US" sz="1400" b="1">
                <a:latin typeface="+mn-ea"/>
                <a:cs typeface="+mn-ea"/>
              </a:rPr>
              <a:t>小题 示范</a:t>
            </a:r>
            <a:r>
              <a:rPr lang="zh-CN" sz="1400" b="1">
                <a:latin typeface="+mn-ea"/>
                <a:cs typeface="+mn-ea"/>
              </a:rPr>
              <a:t>）</a:t>
            </a:r>
            <a:r>
              <a:rPr lang="en-US" sz="1400" b="1">
                <a:latin typeface="+mn-ea"/>
                <a:cs typeface="+mn-ea"/>
              </a:rPr>
              <a:t> </a:t>
            </a:r>
            <a:r>
              <a:rPr lang="en-US" sz="1400" b="1">
                <a:solidFill>
                  <a:srgbClr val="000000"/>
                </a:solidFill>
                <a:latin typeface="+mn-ea"/>
                <a:cs typeface="+mn-ea"/>
              </a:rPr>
              <a:t> </a:t>
            </a:r>
            <a:endParaRPr lang="zh-CN" altLang="en-US" sz="1600">
              <a:latin typeface="+mn-ea"/>
              <a:cs typeface="+mn-ea"/>
            </a:endParaRPr>
          </a:p>
          <a:p>
            <a:pPr marL="323850" indent="-323850"/>
            <a:r>
              <a:rPr lang="en-US" altLang="zh-CN" sz="1600">
                <a:latin typeface="+mn-ea"/>
                <a:cs typeface="+mn-ea"/>
              </a:rPr>
              <a:t>1</a:t>
            </a:r>
            <a:r>
              <a:rPr lang="zh-CN" altLang="en-US" sz="1600">
                <a:latin typeface="+mn-ea"/>
                <a:cs typeface="+mn-ea"/>
              </a:rPr>
              <a:t>、</a:t>
            </a:r>
            <a:r>
              <a:rPr lang="zh-CN" altLang="en-US" sz="1600">
                <a:latin typeface="+mn-ea"/>
                <a:cs typeface="+mn-ea"/>
              </a:rPr>
              <a:t>将下列技术要求标注在齿轮轴零件图样</a:t>
            </a:r>
            <a:r>
              <a:rPr lang="en-US" altLang="zh-CN" sz="1600">
                <a:latin typeface="+mn-ea"/>
                <a:cs typeface="+mn-ea"/>
              </a:rPr>
              <a:t>1</a:t>
            </a:r>
            <a:r>
              <a:rPr lang="zh-CN" altLang="en-US" sz="1600">
                <a:latin typeface="+mn-ea"/>
                <a:cs typeface="+mn-ea"/>
              </a:rPr>
              <a:t>上。（注意：基准符号—用C、D、E开始的对应标注！共17分）</a:t>
            </a:r>
            <a:endParaRPr lang="zh-CN" altLang="en-US" sz="1600">
              <a:latin typeface="+mn-ea"/>
              <a:cs typeface="+mn-ea"/>
            </a:endParaRPr>
          </a:p>
          <a:p>
            <a:pPr marL="323850" indent="-323850"/>
            <a:r>
              <a:rPr lang="zh-CN" altLang="en-US" sz="1600">
                <a:latin typeface="+mn-ea"/>
                <a:cs typeface="+mn-ea"/>
              </a:rPr>
              <a:t>（1）齿轮轴支承轴颈两处的尺寸公差为Ø28k6， 采用包容要求；（2分）</a:t>
            </a:r>
            <a:endParaRPr lang="zh-CN" altLang="en-US" sz="1600">
              <a:latin typeface="+mn-ea"/>
              <a:cs typeface="+mn-ea"/>
            </a:endParaRPr>
          </a:p>
          <a:p>
            <a:pPr marL="323850" indent="-323850"/>
            <a:r>
              <a:rPr lang="zh-CN" altLang="en-US" sz="1600">
                <a:latin typeface="+mn-ea"/>
                <a:cs typeface="+mn-ea"/>
              </a:rPr>
              <a:t>（2）Φ48f7齿顶圆柱面对两支承轴颈Ø28k6的公共轴线的同轴度公差0.02mm；（4分）</a:t>
            </a:r>
            <a:endParaRPr lang="zh-CN" altLang="en-US" sz="1600">
              <a:latin typeface="+mn-ea"/>
              <a:cs typeface="+mn-ea"/>
            </a:endParaRPr>
          </a:p>
          <a:p>
            <a:pPr marL="323850" indent="-323850"/>
            <a:r>
              <a:rPr lang="zh-CN" altLang="en-US" sz="1600">
                <a:latin typeface="+mn-ea"/>
                <a:cs typeface="+mn-ea"/>
              </a:rPr>
              <a:t>（3）两支承轴颈Ø28k6的圆柱度公差0.01mm；（2分）</a:t>
            </a:r>
            <a:endParaRPr lang="zh-CN" altLang="en-US" sz="1600">
              <a:latin typeface="+mn-ea"/>
              <a:cs typeface="+mn-ea"/>
            </a:endParaRPr>
          </a:p>
          <a:p>
            <a:pPr marL="323850" indent="-323850"/>
            <a:r>
              <a:rPr lang="zh-CN" altLang="en-US" sz="1600">
                <a:latin typeface="+mn-ea"/>
                <a:cs typeface="+mn-ea"/>
              </a:rPr>
              <a:t>（4）轴肩A、B对两支承轴颈Ø28k6的公共轴线的垂直度公差均为0.02mm；（3分）</a:t>
            </a:r>
            <a:endParaRPr lang="zh-CN" altLang="en-US" sz="1600">
              <a:latin typeface="+mn-ea"/>
              <a:cs typeface="+mn-ea"/>
            </a:endParaRPr>
          </a:p>
          <a:p>
            <a:pPr marL="323850" indent="-323850"/>
            <a:r>
              <a:rPr lang="zh-CN" altLang="en-US" sz="1600">
                <a:latin typeface="+mn-ea"/>
                <a:cs typeface="+mn-ea"/>
              </a:rPr>
              <a:t>（5）Ø20轴头的尺寸公差为Ø20k6 ；                              （1分）</a:t>
            </a:r>
            <a:endParaRPr lang="zh-CN" altLang="en-US" sz="1600">
              <a:latin typeface="+mn-ea"/>
              <a:cs typeface="+mn-ea"/>
            </a:endParaRPr>
          </a:p>
          <a:p>
            <a:pPr marL="323850" indent="-323850"/>
            <a:r>
              <a:rPr lang="zh-CN" altLang="en-US" sz="1600">
                <a:latin typeface="+mn-ea"/>
                <a:cs typeface="+mn-ea"/>
              </a:rPr>
              <a:t>（6）Ø20轴头上的键槽6N9的中心平面对Ø20轴头轴线的对称度公差0.02mm；（3分）</a:t>
            </a:r>
            <a:endParaRPr lang="zh-CN" altLang="en-US" sz="1600">
              <a:latin typeface="+mn-ea"/>
              <a:cs typeface="+mn-ea"/>
            </a:endParaRPr>
          </a:p>
          <a:p>
            <a:pPr marL="323850" indent="-323850"/>
            <a:r>
              <a:rPr lang="zh-CN" altLang="en-US" sz="1600">
                <a:latin typeface="+mn-ea"/>
                <a:cs typeface="+mn-ea"/>
              </a:rPr>
              <a:t>（7）标注图</a:t>
            </a:r>
            <a:r>
              <a:rPr lang="en-US" altLang="zh-CN" sz="1600">
                <a:latin typeface="+mn-ea"/>
                <a:cs typeface="+mn-ea"/>
              </a:rPr>
              <a:t>1</a:t>
            </a:r>
            <a:r>
              <a:rPr lang="zh-CN" altLang="en-US" sz="1600">
                <a:latin typeface="+mn-ea"/>
                <a:cs typeface="+mn-ea"/>
              </a:rPr>
              <a:t>中各表面的表面粗糙度轮廓：轴承两支承轴颈处上限值Ra1.6 µm ，齿轮齿顶</a:t>
            </a:r>
            <a:endParaRPr lang="zh-CN" altLang="en-US" sz="1600">
              <a:latin typeface="+mn-ea"/>
              <a:cs typeface="+mn-ea"/>
            </a:endParaRPr>
          </a:p>
          <a:p>
            <a:pPr marL="323850" indent="-323850"/>
            <a:r>
              <a:rPr lang="zh-CN" altLang="en-US" sz="1600">
                <a:latin typeface="+mn-ea"/>
                <a:cs typeface="+mn-ea"/>
              </a:rPr>
              <a:t> 圆柱面最大值Ra3.2 µm ，Ø20轴段圆柱面最大值Ra3.2 µm 。其余均按未注表面粗糙度轮廓 Ra 6.3 µm  。（2分）</a:t>
            </a:r>
            <a:endParaRPr lang="zh-CN" altLang="en-US" sz="1600">
              <a:latin typeface="+mn-ea"/>
              <a:cs typeface="+mn-ea"/>
            </a:endParaRPr>
          </a:p>
          <a:p>
            <a:pPr marL="323850" indent="-323850"/>
            <a:r>
              <a:rPr lang="zh-CN" altLang="en-US" sz="1600">
                <a:latin typeface="+mn-ea"/>
                <a:cs typeface="+mn-ea"/>
              </a:rPr>
              <a:t>    解答：</a:t>
            </a:r>
            <a:r>
              <a:rPr lang="zh-CN" altLang="en-US" sz="1600">
                <a:solidFill>
                  <a:srgbClr val="FF0000"/>
                </a:solidFill>
                <a:latin typeface="+mn-ea"/>
                <a:cs typeface="+mn-ea"/>
              </a:rPr>
              <a:t>要求将（1）~（7）技术要求正确标注在下图</a:t>
            </a:r>
            <a:r>
              <a:rPr lang="en-US" altLang="zh-CN" sz="1600">
                <a:solidFill>
                  <a:srgbClr val="FF0000"/>
                </a:solidFill>
                <a:latin typeface="+mn-ea"/>
                <a:cs typeface="+mn-ea"/>
              </a:rPr>
              <a:t>1</a:t>
            </a:r>
            <a:r>
              <a:rPr lang="zh-CN" altLang="en-US" sz="1600">
                <a:solidFill>
                  <a:srgbClr val="FF0000"/>
                </a:solidFill>
                <a:latin typeface="+mn-ea"/>
                <a:cs typeface="+mn-ea"/>
              </a:rPr>
              <a:t>上</a:t>
            </a:r>
            <a:r>
              <a:rPr lang="zh-CN" altLang="en-US" sz="1600">
                <a:latin typeface="+mn-ea"/>
                <a:cs typeface="+mn-ea"/>
              </a:rPr>
              <a:t>：</a:t>
            </a:r>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r>
              <a:rPr lang="zh-CN" altLang="en-US" sz="1600">
                <a:latin typeface="+mn-ea"/>
                <a:cs typeface="+mn-ea"/>
              </a:rPr>
              <a:t>            图</a:t>
            </a:r>
            <a:r>
              <a:rPr lang="en-US" altLang="zh-CN" sz="1600">
                <a:latin typeface="+mn-ea"/>
                <a:cs typeface="+mn-ea"/>
              </a:rPr>
              <a:t>1 </a:t>
            </a:r>
            <a:r>
              <a:rPr lang="zh-CN" altLang="en-US" sz="1600">
                <a:latin typeface="+mn-ea"/>
                <a:cs typeface="+mn-ea"/>
              </a:rPr>
              <a:t>齿轮轴零件标注图样（光图）</a:t>
            </a:r>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p:txBody>
      </p:sp>
      <p:pic>
        <p:nvPicPr>
          <p:cNvPr id="3" name="图片 -2147482614" descr="标注题"/>
          <p:cNvPicPr>
            <a:picLocks noChangeAspect="1"/>
          </p:cNvPicPr>
          <p:nvPr/>
        </p:nvPicPr>
        <p:blipFill>
          <a:blip r:embed="rId1"/>
          <a:stretch>
            <a:fillRect/>
          </a:stretch>
        </p:blipFill>
        <p:spPr>
          <a:xfrm>
            <a:off x="194628" y="6365558"/>
            <a:ext cx="5070475" cy="156019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4775" y="436245"/>
            <a:ext cx="7089775" cy="4276725"/>
          </a:xfrm>
          <a:prstGeom prst="rect">
            <a:avLst/>
          </a:prstGeom>
          <a:noFill/>
          <a:ln w="9525">
            <a:noFill/>
          </a:ln>
        </p:spPr>
        <p:txBody>
          <a:bodyPr wrap="square">
            <a:spAutoFit/>
          </a:bodyPr>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p:txBody>
      </p:sp>
      <p:pic>
        <p:nvPicPr>
          <p:cNvPr id="3" name="图片 -2147482612" descr="2016.7.7齿轮轴图样标注题"/>
          <p:cNvPicPr>
            <a:picLocks noChangeAspect="1"/>
          </p:cNvPicPr>
          <p:nvPr/>
        </p:nvPicPr>
        <p:blipFill>
          <a:blip r:embed="rId1"/>
          <a:srcRect l="48982" t="22696" r="3145" b="42613"/>
          <a:stretch>
            <a:fillRect/>
          </a:stretch>
        </p:blipFill>
        <p:spPr>
          <a:xfrm rot="5400000">
            <a:off x="-978535" y="2317115"/>
            <a:ext cx="7670800" cy="4634865"/>
          </a:xfrm>
          <a:prstGeom prst="rect">
            <a:avLst/>
          </a:prstGeom>
          <a:noFill/>
          <a:ln w="9525">
            <a:noFill/>
          </a:ln>
        </p:spPr>
      </p:pic>
      <p:sp>
        <p:nvSpPr>
          <p:cNvPr id="6" name="文本框 5"/>
          <p:cNvSpPr txBox="1"/>
          <p:nvPr/>
        </p:nvSpPr>
        <p:spPr>
          <a:xfrm>
            <a:off x="1599565" y="8470265"/>
            <a:ext cx="3489325" cy="368300"/>
          </a:xfrm>
          <a:prstGeom prst="rect">
            <a:avLst/>
          </a:prstGeom>
          <a:noFill/>
        </p:spPr>
        <p:txBody>
          <a:bodyPr wrap="none" rtlCol="0" anchor="t">
            <a:spAutoFit/>
          </a:bodyPr>
          <a:p>
            <a:pPr marL="323850" indent="-323850" algn="l" defTabSz="571500"/>
            <a:r>
              <a:rPr lang="zh-CN" altLang="en-US" sz="1600">
                <a:latin typeface="+mn-ea"/>
                <a:cs typeface="+mn-ea"/>
                <a:sym typeface="+mn-ea"/>
              </a:rPr>
              <a:t> </a:t>
            </a:r>
            <a:r>
              <a:rPr lang="zh-CN" altLang="en-US">
                <a:latin typeface="+mn-ea"/>
                <a:cs typeface="+mn-ea"/>
                <a:sym typeface="+mn-ea"/>
              </a:rPr>
              <a:t> </a:t>
            </a:r>
            <a:r>
              <a:rPr lang="zh-CN" altLang="en-US">
                <a:solidFill>
                  <a:srgbClr val="FF0000"/>
                </a:solidFill>
                <a:latin typeface="+mn-ea"/>
                <a:cs typeface="+mn-ea"/>
                <a:sym typeface="+mn-ea"/>
              </a:rPr>
              <a:t>图</a:t>
            </a:r>
            <a:r>
              <a:rPr lang="en-US" altLang="zh-CN">
                <a:solidFill>
                  <a:srgbClr val="FF0000"/>
                </a:solidFill>
                <a:latin typeface="+mn-ea"/>
                <a:cs typeface="+mn-ea"/>
                <a:sym typeface="+mn-ea"/>
              </a:rPr>
              <a:t>1-1 </a:t>
            </a:r>
            <a:r>
              <a:rPr lang="zh-CN" altLang="en-US">
                <a:solidFill>
                  <a:srgbClr val="FF0000"/>
                </a:solidFill>
                <a:latin typeface="+mn-ea"/>
                <a:cs typeface="+mn-ea"/>
                <a:sym typeface="+mn-ea"/>
              </a:rPr>
              <a:t>齿轮轴零件正确标注图样</a:t>
            </a:r>
            <a:endParaRPr lang="zh-CN" altLang="en-US">
              <a:solidFill>
                <a:srgbClr val="FF0000"/>
              </a:solidFill>
              <a:latin typeface="+mn-ea"/>
              <a:cs typeface="+mn-ea"/>
              <a:sym typeface="+mn-ea"/>
            </a:endParaRPr>
          </a:p>
        </p:txBody>
      </p:sp>
      <p:sp>
        <p:nvSpPr>
          <p:cNvPr id="8" name="文本框 7"/>
          <p:cNvSpPr txBox="1"/>
          <p:nvPr/>
        </p:nvSpPr>
        <p:spPr>
          <a:xfrm>
            <a:off x="540385" y="236855"/>
            <a:ext cx="3820795" cy="1198880"/>
          </a:xfrm>
          <a:prstGeom prst="rect">
            <a:avLst/>
          </a:prstGeom>
          <a:noFill/>
        </p:spPr>
        <p:txBody>
          <a:bodyPr wrap="none" rtlCol="0" anchor="t">
            <a:spAutoFit/>
          </a:bodyPr>
          <a:p>
            <a:pPr marL="323850" indent="-323850" algn="l"/>
            <a:r>
              <a:rPr lang="zh-CN" altLang="en-US">
                <a:solidFill>
                  <a:srgbClr val="FF0000"/>
                </a:solidFill>
                <a:latin typeface="+mn-ea"/>
                <a:cs typeface="+mn-ea"/>
                <a:sym typeface="+mn-ea"/>
              </a:rPr>
              <a:t>解答：</a:t>
            </a:r>
            <a:r>
              <a:rPr lang="zh-CN" altLang="en-US">
                <a:solidFill>
                  <a:srgbClr val="FF0000"/>
                </a:solidFill>
                <a:latin typeface="+mn-ea"/>
                <a:cs typeface="+mn-ea"/>
                <a:sym typeface="+mn-ea"/>
              </a:rPr>
              <a:t>（1）~（7）技术要求已正确</a:t>
            </a:r>
            <a:endParaRPr lang="zh-CN" altLang="en-US">
              <a:solidFill>
                <a:srgbClr val="FF0000"/>
              </a:solidFill>
              <a:latin typeface="+mn-ea"/>
              <a:cs typeface="+mn-ea"/>
              <a:sym typeface="+mn-ea"/>
            </a:endParaRPr>
          </a:p>
          <a:p>
            <a:pPr marL="323850" indent="-323850" algn="l"/>
            <a:r>
              <a:rPr lang="zh-CN" altLang="en-US">
                <a:solidFill>
                  <a:srgbClr val="FF0000"/>
                </a:solidFill>
                <a:latin typeface="+mn-ea"/>
                <a:cs typeface="+mn-ea"/>
                <a:sym typeface="+mn-ea"/>
              </a:rPr>
              <a:t>标注在以下图</a:t>
            </a:r>
            <a:r>
              <a:rPr lang="en-US" altLang="zh-CN">
                <a:solidFill>
                  <a:srgbClr val="FF0000"/>
                </a:solidFill>
                <a:latin typeface="+mn-ea"/>
                <a:cs typeface="+mn-ea"/>
                <a:sym typeface="+mn-ea"/>
              </a:rPr>
              <a:t>1-1</a:t>
            </a:r>
            <a:r>
              <a:rPr lang="zh-CN" altLang="en-US">
                <a:solidFill>
                  <a:srgbClr val="FF0000"/>
                </a:solidFill>
                <a:latin typeface="+mn-ea"/>
                <a:cs typeface="+mn-ea"/>
                <a:sym typeface="+mn-ea"/>
              </a:rPr>
              <a:t>上：（旋转）</a:t>
            </a:r>
            <a:endParaRPr lang="zh-CN" altLang="en-US">
              <a:solidFill>
                <a:srgbClr val="FF0000"/>
              </a:solidFill>
              <a:latin typeface="+mn-ea"/>
              <a:cs typeface="+mn-ea"/>
            </a:endParaRPr>
          </a:p>
          <a:p>
            <a:pPr marL="323850" indent="-323850" algn="l"/>
            <a:endParaRPr lang="zh-CN" altLang="en-US">
              <a:solidFill>
                <a:srgbClr val="FF0000"/>
              </a:solidFill>
              <a:latin typeface="+mn-ea"/>
              <a:cs typeface="+mn-ea"/>
            </a:endParaRPr>
          </a:p>
          <a:p>
            <a:pPr marL="323850" indent="-323850" algn="l" defTabSz="571500"/>
            <a:endParaRPr lang="zh-CN" altLang="en-US">
              <a:solidFill>
                <a:srgbClr val="FF0000"/>
              </a:solidFill>
              <a:latin typeface="+mn-ea"/>
              <a:cs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25400" y="434975"/>
            <a:ext cx="5657215" cy="8709025"/>
          </a:xfrm>
          <a:prstGeom prst="rect">
            <a:avLst/>
          </a:prstGeom>
          <a:noFill/>
          <a:ln w="9525">
            <a:noFill/>
          </a:ln>
        </p:spPr>
        <p:txBody>
          <a:bodyPr wrap="square">
            <a:spAutoFit/>
          </a:bodyPr>
          <a:p>
            <a:pPr indent="0"/>
            <a:r>
              <a:rPr lang="en-US" altLang="zh-CN" sz="1600" b="1">
                <a:latin typeface="+mn-ea"/>
                <a:cs typeface="+mn-ea"/>
              </a:rPr>
              <a:t>2</a:t>
            </a:r>
            <a:r>
              <a:rPr lang="zh-CN" altLang="en-US" sz="1600" b="1">
                <a:latin typeface="+mn-ea"/>
                <a:cs typeface="+mn-ea"/>
              </a:rPr>
              <a:t>、</a:t>
            </a:r>
            <a:r>
              <a:rPr lang="zh-CN" sz="1600">
                <a:latin typeface="+mn-ea"/>
                <a:cs typeface="+mn-ea"/>
              </a:rPr>
              <a:t>试将下列几何公差及表面粗糙度轮廓要求正确标注到空白图</a:t>
            </a:r>
            <a:r>
              <a:rPr lang="en-US" altLang="zh-CN" sz="1600">
                <a:latin typeface="+mn-ea"/>
                <a:cs typeface="+mn-ea"/>
              </a:rPr>
              <a:t>2</a:t>
            </a:r>
            <a:r>
              <a:rPr lang="zh-CN" sz="1600">
                <a:latin typeface="+mn-ea"/>
                <a:cs typeface="+mn-ea"/>
              </a:rPr>
              <a:t>-1上：（10分）</a:t>
            </a:r>
            <a:endParaRPr lang="zh-CN" sz="1600">
              <a:latin typeface="+mn-ea"/>
              <a:cs typeface="+mn-ea"/>
            </a:endParaRPr>
          </a:p>
          <a:p>
            <a:pPr indent="0"/>
            <a:r>
              <a:rPr lang="zh-CN" sz="1600">
                <a:latin typeface="+mn-ea"/>
                <a:cs typeface="+mn-ea"/>
              </a:rPr>
              <a:t>① Φd1圆柱面的尺寸为Φ15（+0.011，  0）mm，采用包容要求；Φd2圆柱面的尺寸为Φ20（+0..013 ， 0）mm，轴线直线度为0.05mm，采用独立原则；（3分）</a:t>
            </a:r>
            <a:endParaRPr lang="zh-CN" sz="1600">
              <a:latin typeface="+mn-ea"/>
              <a:cs typeface="+mn-ea"/>
            </a:endParaRPr>
          </a:p>
          <a:p>
            <a:pPr indent="0"/>
            <a:r>
              <a:rPr lang="zh-CN" sz="1600">
                <a:latin typeface="+mn-ea"/>
                <a:cs typeface="+mn-ea"/>
              </a:rPr>
              <a:t>② Φd1圆柱面表面粗糙度上限值为Ra =1.6μm，⌀d2圆柱面表面粗糙度的最大值为Ra =3.2μm。其余表面粗糙度允许值Ra=6.3μm。表面加工方法均为去除材料的方法；（3分）</a:t>
            </a:r>
            <a:endParaRPr lang="zh-CN" sz="1600">
              <a:latin typeface="+mn-ea"/>
              <a:cs typeface="+mn-ea"/>
            </a:endParaRPr>
          </a:p>
          <a:p>
            <a:pPr indent="0"/>
            <a:r>
              <a:rPr lang="zh-CN" sz="1600">
                <a:latin typeface="+mn-ea"/>
                <a:cs typeface="+mn-ea"/>
              </a:rPr>
              <a:t>③ 平面A对两个Φ d2mm孔的公共轴线的平行度公差为0.015mm；（2分）</a:t>
            </a:r>
            <a:endParaRPr lang="zh-CN" sz="1600">
              <a:latin typeface="+mn-ea"/>
              <a:cs typeface="+mn-ea"/>
            </a:endParaRPr>
          </a:p>
          <a:p>
            <a:pPr indent="0"/>
            <a:r>
              <a:rPr lang="zh-CN" sz="1600">
                <a:latin typeface="+mn-ea"/>
                <a:cs typeface="+mn-ea"/>
              </a:rPr>
              <a:t>④ 宽度为5mm的槽相对于相距50mm的两平行平面中心的对称度公差为0.04mm。（2分）</a:t>
            </a:r>
            <a:endParaRPr lang="zh-CN" sz="1600">
              <a:latin typeface="+mn-ea"/>
              <a:cs typeface="+mn-ea"/>
            </a:endParaRPr>
          </a:p>
          <a:p>
            <a:pPr indent="0"/>
            <a:endParaRPr lang="zh-CN" altLang="en-US" sz="1600">
              <a:latin typeface="+mn-ea"/>
              <a:cs typeface="+mn-ea"/>
            </a:endParaRPr>
          </a:p>
          <a:p>
            <a:pPr indent="0"/>
            <a:r>
              <a:rPr lang="zh-CN" altLang="en-US" sz="1600">
                <a:solidFill>
                  <a:srgbClr val="FF0000"/>
                </a:solidFill>
                <a:latin typeface="+mn-ea"/>
                <a:cs typeface="+mn-ea"/>
              </a:rPr>
              <a:t>解答如下：</a:t>
            </a:r>
            <a:endParaRPr lang="zh-CN" altLang="en-US" sz="1600">
              <a:solidFill>
                <a:srgbClr val="FF0000"/>
              </a:solidFill>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r>
              <a:rPr lang="zh-CN" altLang="en-US" sz="1600">
                <a:solidFill>
                  <a:srgbClr val="FF0000"/>
                </a:solidFill>
                <a:latin typeface="+mn-ea"/>
                <a:cs typeface="+mn-ea"/>
                <a:sym typeface="+mn-ea"/>
              </a:rPr>
              <a:t>                     图</a:t>
            </a:r>
            <a:r>
              <a:rPr lang="en-US" altLang="zh-CN" sz="1600">
                <a:solidFill>
                  <a:srgbClr val="FF0000"/>
                </a:solidFill>
                <a:latin typeface="+mn-ea"/>
                <a:cs typeface="+mn-ea"/>
                <a:sym typeface="+mn-ea"/>
              </a:rPr>
              <a:t>2-1 </a:t>
            </a:r>
            <a:r>
              <a:rPr lang="zh-CN" altLang="en-US" sz="1600">
                <a:solidFill>
                  <a:srgbClr val="FF0000"/>
                </a:solidFill>
                <a:latin typeface="+mn-ea"/>
                <a:cs typeface="+mn-ea"/>
                <a:sym typeface="+mn-ea"/>
              </a:rPr>
              <a:t>正确</a:t>
            </a:r>
            <a:r>
              <a:rPr lang="zh-CN" altLang="en-US" sz="1600">
                <a:solidFill>
                  <a:srgbClr val="FF0000"/>
                </a:solidFill>
                <a:latin typeface="+mn-ea"/>
                <a:cs typeface="+mn-ea"/>
                <a:sym typeface="+mn-ea"/>
              </a:rPr>
              <a:t>标注图样</a:t>
            </a:r>
            <a:endParaRPr lang="zh-CN" altLang="en-US" sz="1600">
              <a:latin typeface="+mn-ea"/>
              <a:cs typeface="+mn-ea"/>
            </a:endParaRPr>
          </a:p>
          <a:p>
            <a:pPr indent="0"/>
            <a:endParaRPr lang="zh-CN" altLang="en-US" sz="1600">
              <a:latin typeface="+mn-ea"/>
              <a:cs typeface="+mn-ea"/>
            </a:endParaRPr>
          </a:p>
        </p:txBody>
      </p:sp>
      <p:pic>
        <p:nvPicPr>
          <p:cNvPr id="2" name="图片 -2147482612" descr="用图 Model (1)"/>
          <p:cNvPicPr>
            <a:picLocks noChangeAspect="1"/>
          </p:cNvPicPr>
          <p:nvPr/>
        </p:nvPicPr>
        <p:blipFill>
          <a:blip r:embed="rId1"/>
          <a:stretch>
            <a:fillRect/>
          </a:stretch>
        </p:blipFill>
        <p:spPr>
          <a:xfrm>
            <a:off x="139700" y="4052570"/>
            <a:ext cx="5436000" cy="338979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274320" y="307975"/>
            <a:ext cx="5222240" cy="8709025"/>
          </a:xfrm>
          <a:prstGeom prst="rect">
            <a:avLst/>
          </a:prstGeom>
          <a:noFill/>
          <a:ln w="9525">
            <a:noFill/>
          </a:ln>
        </p:spPr>
        <p:txBody>
          <a:bodyPr wrap="square">
            <a:spAutoFit/>
          </a:bodyPr>
          <a:p>
            <a:pPr indent="0"/>
            <a:endParaRPr lang="zh-CN" sz="1600" b="1">
              <a:latin typeface="+mn-ea"/>
              <a:cs typeface="+mn-ea"/>
            </a:endParaRPr>
          </a:p>
          <a:p>
            <a:pPr indent="0"/>
            <a:r>
              <a:rPr lang="en-US" altLang="zh-CN" sz="2400" b="0">
                <a:latin typeface="+mn-ea"/>
                <a:cs typeface="+mn-ea"/>
              </a:rPr>
              <a:t>3</a:t>
            </a:r>
            <a:r>
              <a:rPr lang="zh-CN" altLang="en-US" sz="2400" b="0">
                <a:latin typeface="+mn-ea"/>
                <a:cs typeface="+mn-ea"/>
              </a:rPr>
              <a:t>、</a:t>
            </a:r>
            <a:r>
              <a:rPr lang="zh-CN" altLang="en-US" sz="2400" b="0">
                <a:latin typeface="+mn-ea"/>
                <a:cs typeface="+mn-ea"/>
              </a:rPr>
              <a:t>试将下列几何公差及表面粗糙度轮廓要求正确标注到图</a:t>
            </a:r>
            <a:r>
              <a:rPr lang="en-US" altLang="zh-CN" sz="2400" b="0">
                <a:latin typeface="+mn-ea"/>
                <a:cs typeface="+mn-ea"/>
              </a:rPr>
              <a:t>3-1</a:t>
            </a:r>
            <a:r>
              <a:rPr lang="zh-CN" altLang="en-US" sz="2400" b="0">
                <a:latin typeface="+mn-ea"/>
                <a:cs typeface="+mn-ea"/>
              </a:rPr>
              <a:t>上：（10分）</a:t>
            </a:r>
            <a:endParaRPr lang="zh-CN" altLang="en-US" sz="2400" b="0">
              <a:latin typeface="+mn-ea"/>
              <a:cs typeface="+mn-ea"/>
            </a:endParaRPr>
          </a:p>
          <a:p>
            <a:pPr indent="0"/>
            <a:r>
              <a:rPr lang="zh-CN" sz="2400" b="0">
                <a:latin typeface="+mn-ea"/>
                <a:cs typeface="+mn-ea"/>
              </a:rPr>
              <a:t>1）标注尺寸公差：Φ58e7，Φ48f7，Φ36H8，Φ30H8；</a:t>
            </a:r>
            <a:endParaRPr lang="zh-CN" sz="2400" b="0">
              <a:latin typeface="+mn-ea"/>
              <a:cs typeface="+mn-ea"/>
            </a:endParaRPr>
          </a:p>
          <a:p>
            <a:pPr indent="0"/>
            <a:r>
              <a:rPr lang="zh-CN" sz="2400" b="0">
                <a:latin typeface="+mn-ea"/>
                <a:cs typeface="+mn-ea"/>
              </a:rPr>
              <a:t>2）轴套左端平面a的平面度公差为0.02mm，对Φ30孔的轴线的垂直度公差0.05mm；</a:t>
            </a:r>
            <a:endParaRPr lang="zh-CN" sz="2400" b="0">
              <a:latin typeface="+mn-ea"/>
              <a:cs typeface="+mn-ea"/>
            </a:endParaRPr>
          </a:p>
          <a:p>
            <a:pPr indent="0"/>
            <a:r>
              <a:rPr lang="zh-CN" sz="2400" b="0">
                <a:latin typeface="+mn-ea"/>
                <a:cs typeface="+mn-ea"/>
              </a:rPr>
              <a:t>3） 轴套Φ36孔轴线对Φ30孔轴线同轴度公差0.06mm；Φ36孔内表面的圆柱度公差0.016mm；</a:t>
            </a:r>
            <a:endParaRPr lang="zh-CN" sz="2400" b="0">
              <a:latin typeface="+mn-ea"/>
              <a:cs typeface="+mn-ea"/>
            </a:endParaRPr>
          </a:p>
          <a:p>
            <a:pPr indent="0"/>
            <a:r>
              <a:rPr lang="zh-CN" sz="2400" b="0">
                <a:latin typeface="+mn-ea"/>
                <a:cs typeface="+mn-ea"/>
              </a:rPr>
              <a:t>4）轴肩端面b对Φ30孔轴线的圆跳动公差0.025mm；Φ48外圆柱面对Φ30孔轴线的圆跳动公差0.02mm；</a:t>
            </a:r>
            <a:endParaRPr lang="zh-CN" sz="2400" b="0">
              <a:latin typeface="+mn-ea"/>
              <a:cs typeface="+mn-ea"/>
            </a:endParaRPr>
          </a:p>
          <a:p>
            <a:pPr indent="0"/>
            <a:r>
              <a:rPr lang="zh-CN" sz="2400" b="0">
                <a:latin typeface="+mn-ea"/>
                <a:cs typeface="+mn-ea"/>
              </a:rPr>
              <a:t>5）轴套左端平面a的表面粗糙度轮廓上限值Ra3.2µm；Φ48外圆柱面粗糙度轮廓最大值Ra3.2µm；</a:t>
            </a:r>
            <a:endParaRPr lang="zh-CN" sz="2400" b="0">
              <a:latin typeface="+mn-ea"/>
              <a:cs typeface="+mn-ea"/>
            </a:endParaRPr>
          </a:p>
          <a:p>
            <a:pPr indent="0"/>
            <a:r>
              <a:rPr lang="zh-CN" sz="2400" b="0">
                <a:latin typeface="+mn-ea"/>
                <a:cs typeface="+mn-ea"/>
              </a:rPr>
              <a:t>6）Φ30孔和Φ36孔内圆柱表面的表面粗糙度轮廓上限值Ra6.3µm；其余表面的表面粗糙度轮廓上限值Ra12.5µm；</a:t>
            </a:r>
            <a:endParaRPr lang="zh-CN" sz="2400" b="0">
              <a:latin typeface="+mn-ea"/>
              <a:cs typeface="+mn-ea"/>
            </a:endParaRPr>
          </a:p>
          <a:p>
            <a:pPr indent="0"/>
            <a:endParaRPr lang="zh-CN" altLang="en-US" sz="2400">
              <a:latin typeface="+mn-ea"/>
              <a:cs typeface="+mn-ea"/>
            </a:endParaRPr>
          </a:p>
          <a:p>
            <a:pPr indent="0"/>
            <a:endParaRPr lang="zh-CN" altLang="en-US" sz="1600">
              <a:latin typeface="+mn-ea"/>
              <a:cs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416560" y="307975"/>
            <a:ext cx="5080000" cy="8709025"/>
          </a:xfrm>
          <a:prstGeom prst="rect">
            <a:avLst/>
          </a:prstGeom>
          <a:noFill/>
          <a:ln w="9525">
            <a:noFill/>
          </a:ln>
        </p:spPr>
        <p:txBody>
          <a:bodyPr>
            <a:spAutoFit/>
          </a:bodyPr>
          <a:p>
            <a:pPr indent="0"/>
            <a:endParaRPr lang="zh-CN" sz="1600" b="1">
              <a:latin typeface="+mn-ea"/>
              <a:cs typeface="+mn-ea"/>
            </a:endParaRPr>
          </a:p>
          <a:p>
            <a:pPr indent="0"/>
            <a:r>
              <a:rPr lang="zh-CN" sz="1600" b="0">
                <a:solidFill>
                  <a:srgbClr val="FF0000"/>
                </a:solidFill>
                <a:latin typeface="+mn-ea"/>
                <a:cs typeface="+mn-ea"/>
              </a:rPr>
              <a:t>解答如下：</a:t>
            </a:r>
            <a:r>
              <a:rPr lang="zh-CN" altLang="en-US" sz="1600">
                <a:solidFill>
                  <a:srgbClr val="FF0000"/>
                </a:solidFill>
                <a:latin typeface="+mn-ea"/>
                <a:cs typeface="+mn-ea"/>
                <a:sym typeface="+mn-ea"/>
              </a:rPr>
              <a:t>轴套零件技术要求  </a:t>
            </a:r>
            <a:r>
              <a:rPr lang="en-US" altLang="zh-CN" sz="1600">
                <a:solidFill>
                  <a:srgbClr val="FF0000"/>
                </a:solidFill>
                <a:latin typeface="+mn-ea"/>
                <a:cs typeface="+mn-ea"/>
                <a:sym typeface="+mn-ea"/>
              </a:rPr>
              <a:t>1</a:t>
            </a:r>
            <a:r>
              <a:rPr lang="zh-CN" altLang="en-US" sz="1600">
                <a:solidFill>
                  <a:srgbClr val="FF0000"/>
                </a:solidFill>
                <a:latin typeface="+mn-ea"/>
                <a:cs typeface="+mn-ea"/>
                <a:sym typeface="+mn-ea"/>
              </a:rPr>
              <a:t>）</a:t>
            </a:r>
            <a:r>
              <a:rPr lang="zh-CN" altLang="en-US" sz="1600">
                <a:solidFill>
                  <a:srgbClr val="FF0000"/>
                </a:solidFill>
                <a:latin typeface="微软雅黑" panose="020B0503020204020204" pitchFamily="34" charset="-122"/>
                <a:ea typeface="微软雅黑" panose="020B0503020204020204" pitchFamily="34" charset="-122"/>
                <a:cs typeface="+mn-ea"/>
                <a:sym typeface="+mn-ea"/>
              </a:rPr>
              <a:t>~</a:t>
            </a:r>
            <a:r>
              <a:rPr lang="en-US" altLang="zh-CN" sz="1600">
                <a:solidFill>
                  <a:srgbClr val="FF0000"/>
                </a:solidFill>
                <a:latin typeface="微软雅黑" panose="020B0503020204020204" pitchFamily="34" charset="-122"/>
                <a:ea typeface="微软雅黑" panose="020B0503020204020204" pitchFamily="34" charset="-122"/>
                <a:cs typeface="+mn-ea"/>
                <a:sym typeface="+mn-ea"/>
              </a:rPr>
              <a:t>6</a:t>
            </a:r>
            <a:r>
              <a:rPr lang="zh-CN" altLang="en-US" sz="1600">
                <a:solidFill>
                  <a:srgbClr val="FF0000"/>
                </a:solidFill>
                <a:latin typeface="微软雅黑" panose="020B0503020204020204" pitchFamily="34" charset="-122"/>
                <a:ea typeface="微软雅黑" panose="020B0503020204020204" pitchFamily="34" charset="-122"/>
                <a:cs typeface="+mn-ea"/>
                <a:sym typeface="+mn-ea"/>
              </a:rPr>
              <a:t>）已</a:t>
            </a:r>
            <a:r>
              <a:rPr lang="zh-CN" altLang="en-US" sz="1600">
                <a:solidFill>
                  <a:srgbClr val="FF0000"/>
                </a:solidFill>
                <a:latin typeface="+mn-ea"/>
                <a:cs typeface="+mn-ea"/>
                <a:sym typeface="+mn-ea"/>
              </a:rPr>
              <a:t>正确标注在</a:t>
            </a:r>
            <a:endParaRPr lang="zh-CN" altLang="en-US" sz="1600">
              <a:solidFill>
                <a:srgbClr val="FF0000"/>
              </a:solidFill>
              <a:latin typeface="+mn-ea"/>
              <a:cs typeface="+mn-ea"/>
              <a:sym typeface="+mn-ea"/>
            </a:endParaRPr>
          </a:p>
          <a:p>
            <a:pPr indent="0"/>
            <a:r>
              <a:rPr lang="zh-CN" altLang="en-US" sz="1600">
                <a:solidFill>
                  <a:srgbClr val="FF0000"/>
                </a:solidFill>
                <a:latin typeface="+mn-ea"/>
                <a:cs typeface="+mn-ea"/>
                <a:sym typeface="+mn-ea"/>
              </a:rPr>
              <a:t>                图</a:t>
            </a:r>
            <a:r>
              <a:rPr lang="en-US" altLang="zh-CN" sz="1600">
                <a:solidFill>
                  <a:srgbClr val="FF0000"/>
                </a:solidFill>
                <a:latin typeface="+mn-ea"/>
                <a:cs typeface="+mn-ea"/>
                <a:sym typeface="+mn-ea"/>
              </a:rPr>
              <a:t>3-1</a:t>
            </a:r>
            <a:r>
              <a:rPr lang="zh-CN" altLang="en-US" sz="1600">
                <a:solidFill>
                  <a:srgbClr val="FF0000"/>
                </a:solidFill>
                <a:latin typeface="+mn-ea"/>
                <a:cs typeface="+mn-ea"/>
                <a:sym typeface="+mn-ea"/>
              </a:rPr>
              <a:t>上（图已旋转  ）</a:t>
            </a:r>
            <a:endParaRPr lang="zh-CN" altLang="en-US" sz="1600">
              <a:latin typeface="+mn-ea"/>
              <a:cs typeface="+mn-ea"/>
            </a:endParaRPr>
          </a:p>
          <a:p>
            <a:pPr indent="0"/>
            <a:endParaRPr lang="zh-CN" altLang="en-US" sz="1600">
              <a:latin typeface="+mn-ea"/>
              <a:cs typeface="+mn-ea"/>
            </a:endParaRPr>
          </a:p>
          <a:p>
            <a:pPr indent="0"/>
            <a:endParaRPr lang="zh-CN" sz="1600" b="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r>
              <a:rPr lang="zh-CN" altLang="en-US" sz="1600">
                <a:latin typeface="+mn-ea"/>
                <a:cs typeface="+mn-ea"/>
              </a:rPr>
              <a:t>  </a:t>
            </a:r>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r>
              <a:rPr lang="zh-CN" altLang="en-US" sz="1600">
                <a:latin typeface="+mn-ea"/>
                <a:cs typeface="+mn-ea"/>
              </a:rPr>
              <a:t> </a:t>
            </a:r>
            <a:endParaRPr lang="zh-CN" altLang="en-US" sz="1600">
              <a:latin typeface="+mn-ea"/>
              <a:cs typeface="+mn-ea"/>
            </a:endParaRPr>
          </a:p>
          <a:p>
            <a:pPr indent="0"/>
            <a:endParaRPr lang="zh-CN" altLang="en-US" sz="1600">
              <a:solidFill>
                <a:srgbClr val="FF0000"/>
              </a:solidFill>
              <a:latin typeface="+mn-ea"/>
              <a:cs typeface="+mn-ea"/>
            </a:endParaRPr>
          </a:p>
          <a:p>
            <a:pPr indent="0"/>
            <a:r>
              <a:rPr lang="zh-CN" altLang="en-US" sz="1600">
                <a:solidFill>
                  <a:srgbClr val="FF0000"/>
                </a:solidFill>
                <a:latin typeface="+mn-ea"/>
                <a:cs typeface="+mn-ea"/>
              </a:rPr>
              <a:t>            图</a:t>
            </a:r>
            <a:r>
              <a:rPr lang="en-US" altLang="zh-CN" sz="1600">
                <a:solidFill>
                  <a:srgbClr val="FF0000"/>
                </a:solidFill>
                <a:latin typeface="+mn-ea"/>
                <a:cs typeface="+mn-ea"/>
              </a:rPr>
              <a:t>3-1</a:t>
            </a:r>
            <a:r>
              <a:rPr lang="zh-CN" altLang="en-US" sz="1600">
                <a:solidFill>
                  <a:srgbClr val="FF0000"/>
                </a:solidFill>
                <a:latin typeface="+mn-ea"/>
                <a:cs typeface="+mn-ea"/>
              </a:rPr>
              <a:t>轴套（材料45号钢调质处理）</a:t>
            </a:r>
            <a:endParaRPr lang="zh-CN" altLang="en-US" sz="1600">
              <a:solidFill>
                <a:srgbClr val="FF0000"/>
              </a:solidFill>
              <a:latin typeface="+mn-ea"/>
              <a:cs typeface="+mn-ea"/>
            </a:endParaRPr>
          </a:p>
          <a:p>
            <a:pPr indent="0"/>
            <a:endParaRPr lang="zh-CN" altLang="en-US" sz="1600">
              <a:latin typeface="+mn-ea"/>
              <a:cs typeface="+mn-ea"/>
            </a:endParaRPr>
          </a:p>
        </p:txBody>
      </p:sp>
      <p:pic>
        <p:nvPicPr>
          <p:cNvPr id="2" name="图片 -2147482605"/>
          <p:cNvPicPr>
            <a:picLocks noChangeAspect="1"/>
          </p:cNvPicPr>
          <p:nvPr/>
        </p:nvPicPr>
        <p:blipFill>
          <a:blip r:embed="rId1"/>
          <a:srcRect l="49715" t="8141" r="12172" b="36586"/>
          <a:stretch>
            <a:fillRect/>
          </a:stretch>
        </p:blipFill>
        <p:spPr>
          <a:xfrm rot="5400000">
            <a:off x="-482600" y="2172970"/>
            <a:ext cx="6779895" cy="498157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4775" y="436245"/>
            <a:ext cx="5468620" cy="8709025"/>
          </a:xfrm>
          <a:prstGeom prst="rect">
            <a:avLst/>
          </a:prstGeom>
          <a:noFill/>
          <a:ln w="9525">
            <a:noFill/>
          </a:ln>
        </p:spPr>
        <p:txBody>
          <a:bodyPr wrap="square">
            <a:spAutoFit/>
          </a:bodyPr>
          <a:p>
            <a:pPr marL="323850" indent="-323850"/>
            <a:r>
              <a:rPr lang="zh-CN" altLang="en-US" b="1">
                <a:latin typeface="+mn-ea"/>
                <a:cs typeface="+mn-ea"/>
              </a:rPr>
              <a:t>二、</a:t>
            </a:r>
            <a:r>
              <a:rPr lang="zh-CN" altLang="en-US" b="1">
                <a:latin typeface="+mn-ea"/>
                <a:cs typeface="+mn-ea"/>
                <a:sym typeface="+mn-ea"/>
              </a:rPr>
              <a:t>图样标注改错题</a:t>
            </a:r>
            <a:r>
              <a:rPr lang="en-US" b="1">
                <a:latin typeface="+mn-ea"/>
                <a:cs typeface="+mn-ea"/>
              </a:rPr>
              <a:t> </a:t>
            </a:r>
            <a:r>
              <a:rPr lang="zh-CN" sz="1400" b="1">
                <a:latin typeface="+mn-ea"/>
                <a:cs typeface="+mn-ea"/>
              </a:rPr>
              <a:t>（</a:t>
            </a:r>
            <a:r>
              <a:rPr lang="en-US" altLang="zh-CN" sz="1400" b="1">
                <a:latin typeface="+mn-ea"/>
                <a:cs typeface="+mn-ea"/>
              </a:rPr>
              <a:t>4</a:t>
            </a:r>
            <a:r>
              <a:rPr lang="zh-CN" altLang="en-US" sz="1400" b="1">
                <a:latin typeface="+mn-ea"/>
                <a:cs typeface="+mn-ea"/>
              </a:rPr>
              <a:t>小题 示范</a:t>
            </a:r>
            <a:r>
              <a:rPr lang="zh-CN" sz="1400" b="1">
                <a:latin typeface="+mn-ea"/>
                <a:cs typeface="+mn-ea"/>
              </a:rPr>
              <a:t>）</a:t>
            </a:r>
            <a:r>
              <a:rPr lang="en-US" sz="1400" b="1">
                <a:latin typeface="+mn-ea"/>
                <a:cs typeface="+mn-ea"/>
              </a:rPr>
              <a:t> </a:t>
            </a:r>
            <a:r>
              <a:rPr lang="en-US" sz="1400" b="1">
                <a:solidFill>
                  <a:srgbClr val="000000"/>
                </a:solidFill>
                <a:latin typeface="+mn-ea"/>
                <a:cs typeface="+mn-ea"/>
              </a:rPr>
              <a:t> </a:t>
            </a:r>
            <a:endParaRPr lang="en-US" sz="1400" b="1">
              <a:solidFill>
                <a:srgbClr val="000000"/>
              </a:solidFill>
              <a:latin typeface="+mn-ea"/>
              <a:cs typeface="+mn-ea"/>
            </a:endParaRPr>
          </a:p>
          <a:p>
            <a:pPr marL="323850" indent="-323850"/>
            <a:r>
              <a:rPr lang="en-US" altLang="zh-CN" sz="1600">
                <a:latin typeface="+mn-ea"/>
                <a:cs typeface="+mn-ea"/>
              </a:rPr>
              <a:t>1</a:t>
            </a:r>
            <a:r>
              <a:rPr lang="zh-CN" altLang="en-US" sz="1600">
                <a:latin typeface="+mn-ea"/>
                <a:cs typeface="+mn-ea"/>
              </a:rPr>
              <a:t>、改正图</a:t>
            </a:r>
            <a:r>
              <a:rPr lang="en-US" altLang="zh-CN" sz="1600">
                <a:latin typeface="+mn-ea"/>
                <a:cs typeface="+mn-ea"/>
              </a:rPr>
              <a:t>1</a:t>
            </a:r>
            <a:r>
              <a:rPr lang="zh-CN" altLang="en-US" sz="1600">
                <a:latin typeface="+mn-ea"/>
                <a:cs typeface="+mn-ea"/>
              </a:rPr>
              <a:t>所示：尺寸及有关符号、几何公差及表面粗糙度等标注上的错误或不准确、不规范之处，且将你认为标注正确或不准确不规范之处已全部改正过来的正确结果全部直接标注在以下空白图</a:t>
            </a:r>
            <a:r>
              <a:rPr lang="en-US" altLang="zh-CN" sz="1600">
                <a:latin typeface="+mn-ea"/>
                <a:cs typeface="+mn-ea"/>
              </a:rPr>
              <a:t>1</a:t>
            </a:r>
            <a:r>
              <a:rPr lang="zh-CN" altLang="en-US" sz="1600">
                <a:latin typeface="+mn-ea"/>
                <a:cs typeface="+mn-ea"/>
              </a:rPr>
              <a:t>-1 上。  （不得改变有关标注项目及数量----但是涉及到参考基准符号则必须正确增或减，加以标注；同时要求在改正图</a:t>
            </a:r>
            <a:r>
              <a:rPr lang="en-US" altLang="zh-CN" sz="1600">
                <a:latin typeface="+mn-ea"/>
                <a:cs typeface="+mn-ea"/>
              </a:rPr>
              <a:t>1</a:t>
            </a:r>
            <a:r>
              <a:rPr lang="zh-CN" altLang="en-US" sz="1600">
                <a:latin typeface="+mn-ea"/>
                <a:cs typeface="+mn-ea"/>
              </a:rPr>
              <a:t>-1上用“引线+文字”直接简要标明被测要素和基准要素都是一些什么要素？每错改正1分，共16分）</a:t>
            </a:r>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endParaRPr lang="zh-CN" altLang="en-US" sz="1600">
              <a:latin typeface="+mn-ea"/>
              <a:cs typeface="+mn-ea"/>
            </a:endParaRPr>
          </a:p>
          <a:p>
            <a:pPr marL="323850" indent="-323850"/>
            <a:r>
              <a:rPr lang="zh-CN" altLang="en-US" sz="1600">
                <a:latin typeface="+mn-ea"/>
                <a:cs typeface="+mn-ea"/>
              </a:rPr>
              <a:t>            </a:t>
            </a:r>
            <a:endParaRPr lang="zh-CN" altLang="en-US" sz="1600">
              <a:latin typeface="+mn-ea"/>
              <a:cs typeface="+mn-ea"/>
            </a:endParaRPr>
          </a:p>
          <a:p>
            <a:pPr marL="323850" indent="-323850"/>
            <a:endParaRPr lang="zh-CN" altLang="en-US" sz="1600">
              <a:latin typeface="+mn-ea"/>
              <a:cs typeface="+mn-ea"/>
            </a:endParaRPr>
          </a:p>
          <a:p>
            <a:pPr marL="323850" indent="-323850"/>
            <a:r>
              <a:rPr lang="zh-CN" altLang="en-US" sz="1600">
                <a:latin typeface="+mn-ea"/>
                <a:cs typeface="+mn-ea"/>
              </a:rPr>
              <a:t>               图</a:t>
            </a:r>
            <a:r>
              <a:rPr lang="en-US" altLang="zh-CN" sz="1600">
                <a:latin typeface="+mn-ea"/>
                <a:cs typeface="+mn-ea"/>
              </a:rPr>
              <a:t>1</a:t>
            </a:r>
            <a:r>
              <a:rPr lang="zh-CN" altLang="en-US" sz="1600">
                <a:latin typeface="+mn-ea"/>
                <a:cs typeface="+mn-ea"/>
              </a:rPr>
              <a:t> 某零件设计图样及有关标注</a:t>
            </a:r>
            <a:endParaRPr lang="zh-CN" altLang="en-US" sz="1600">
              <a:latin typeface="+mn-ea"/>
              <a:cs typeface="+mn-ea"/>
            </a:endParaRPr>
          </a:p>
          <a:p>
            <a:pPr marL="323850" indent="-323850"/>
            <a:endParaRPr lang="zh-CN" altLang="en-US" sz="1600">
              <a:latin typeface="+mn-ea"/>
              <a:cs typeface="+mn-ea"/>
            </a:endParaRPr>
          </a:p>
        </p:txBody>
      </p:sp>
      <p:pic>
        <p:nvPicPr>
          <p:cNvPr id="3" name="图片 -2147482611" descr="2016.6.28公差改错图"/>
          <p:cNvPicPr>
            <a:picLocks noChangeAspect="1"/>
          </p:cNvPicPr>
          <p:nvPr/>
        </p:nvPicPr>
        <p:blipFill>
          <a:blip r:embed="rId1"/>
          <a:srcRect l="6596" t="1836" r="8897" b="1301"/>
          <a:stretch>
            <a:fillRect/>
          </a:stretch>
        </p:blipFill>
        <p:spPr>
          <a:xfrm>
            <a:off x="0" y="3478530"/>
            <a:ext cx="5768267" cy="42840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91440" y="477520"/>
            <a:ext cx="5623560" cy="9232265"/>
          </a:xfrm>
          <a:prstGeom prst="rect">
            <a:avLst/>
          </a:prstGeom>
          <a:noFill/>
          <a:ln w="9525">
            <a:noFill/>
          </a:ln>
        </p:spPr>
        <p:txBody>
          <a:bodyPr wrap="square">
            <a:spAutoFit/>
          </a:bodyPr>
          <a:p>
            <a:pPr indent="0"/>
            <a:r>
              <a:rPr lang="zh-CN" altLang="en-US">
                <a:solidFill>
                  <a:srgbClr val="FF0000"/>
                </a:solidFill>
                <a:latin typeface="+mn-ea"/>
                <a:cs typeface="+mn-ea"/>
              </a:rPr>
              <a:t>解答如下：规范改正结果全部标注在图</a:t>
            </a:r>
            <a:r>
              <a:rPr lang="en-US" altLang="zh-CN">
                <a:solidFill>
                  <a:srgbClr val="FF0000"/>
                </a:solidFill>
                <a:latin typeface="+mn-ea"/>
                <a:cs typeface="+mn-ea"/>
              </a:rPr>
              <a:t>1</a:t>
            </a:r>
            <a:r>
              <a:rPr lang="zh-CN" altLang="en-US">
                <a:solidFill>
                  <a:srgbClr val="FF0000"/>
                </a:solidFill>
                <a:latin typeface="+mn-ea"/>
                <a:cs typeface="+mn-ea"/>
              </a:rPr>
              <a:t>-1 上</a:t>
            </a:r>
            <a:endParaRPr lang="zh-CN" altLang="en-US">
              <a:solidFill>
                <a:srgbClr val="FF0000"/>
              </a:solidFill>
              <a:latin typeface="+mn-ea"/>
              <a:cs typeface="+mn-ea"/>
            </a:endParaRPr>
          </a:p>
          <a:p>
            <a:pPr indent="0"/>
            <a:r>
              <a:rPr lang="zh-CN" altLang="en-US">
                <a:solidFill>
                  <a:srgbClr val="FF0000"/>
                </a:solidFill>
                <a:latin typeface="+mn-ea"/>
                <a:cs typeface="+mn-ea"/>
              </a:rPr>
              <a:t>（每错规范改正—包括标明要素种类名称，得1分，共16分</a:t>
            </a:r>
            <a:r>
              <a:rPr lang="zh-CN" altLang="en-US" sz="1400">
                <a:solidFill>
                  <a:srgbClr val="FF0000"/>
                </a:solidFill>
                <a:latin typeface="+mn-ea"/>
                <a:cs typeface="+mn-ea"/>
              </a:rPr>
              <a:t>）</a:t>
            </a:r>
            <a:r>
              <a:rPr lang="en-US" altLang="zh-CN" sz="1400">
                <a:solidFill>
                  <a:srgbClr val="FF0000"/>
                </a:solidFill>
                <a:latin typeface="+mn-ea"/>
                <a:cs typeface="+mn-ea"/>
              </a:rPr>
              <a:t>-</a:t>
            </a:r>
            <a:r>
              <a:rPr lang="en-US" altLang="zh-CN">
                <a:solidFill>
                  <a:srgbClr val="FF0000"/>
                </a:solidFill>
                <a:latin typeface="+mn-ea"/>
                <a:cs typeface="+mn-ea"/>
              </a:rPr>
              <a:t>-</a:t>
            </a:r>
            <a:r>
              <a:rPr lang="zh-CN" altLang="en-US">
                <a:solidFill>
                  <a:srgbClr val="FF0000"/>
                </a:solidFill>
                <a:latin typeface="+mn-ea"/>
                <a:cs typeface="+mn-ea"/>
              </a:rPr>
              <a:t>图旋转</a:t>
            </a:r>
            <a:endParaRPr lang="zh-CN" altLang="en-US">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r>
              <a:rPr lang="zh-CN" altLang="en-US" sz="1400">
                <a:solidFill>
                  <a:srgbClr val="FF0000"/>
                </a:solidFill>
                <a:latin typeface="+mn-ea"/>
                <a:cs typeface="+mn-ea"/>
              </a:rPr>
              <a:t>                   </a:t>
            </a:r>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a:p>
            <a:pPr indent="0"/>
            <a:r>
              <a:rPr lang="zh-CN" altLang="en-US" sz="1400">
                <a:solidFill>
                  <a:srgbClr val="FF0000"/>
                </a:solidFill>
                <a:latin typeface="+mn-ea"/>
                <a:cs typeface="+mn-ea"/>
              </a:rPr>
              <a:t>                </a:t>
            </a:r>
            <a:r>
              <a:rPr lang="zh-CN" altLang="en-US">
                <a:solidFill>
                  <a:srgbClr val="FF0000"/>
                </a:solidFill>
                <a:latin typeface="+mn-ea"/>
                <a:cs typeface="+mn-ea"/>
              </a:rPr>
              <a:t>图</a:t>
            </a:r>
            <a:r>
              <a:rPr lang="en-US" altLang="zh-CN">
                <a:solidFill>
                  <a:srgbClr val="FF0000"/>
                </a:solidFill>
                <a:latin typeface="+mn-ea"/>
                <a:cs typeface="+mn-ea"/>
              </a:rPr>
              <a:t>1</a:t>
            </a:r>
            <a:r>
              <a:rPr lang="zh-CN" altLang="en-US">
                <a:solidFill>
                  <a:srgbClr val="FF0000"/>
                </a:solidFill>
                <a:latin typeface="+mn-ea"/>
                <a:cs typeface="+mn-ea"/>
              </a:rPr>
              <a:t>-1 为图</a:t>
            </a:r>
            <a:r>
              <a:rPr lang="en-US" altLang="zh-CN">
                <a:solidFill>
                  <a:srgbClr val="FF0000"/>
                </a:solidFill>
                <a:latin typeface="+mn-ea"/>
                <a:cs typeface="+mn-ea"/>
              </a:rPr>
              <a:t>1</a:t>
            </a:r>
            <a:r>
              <a:rPr lang="zh-CN" altLang="en-US">
                <a:solidFill>
                  <a:srgbClr val="FF0000"/>
                </a:solidFill>
                <a:latin typeface="+mn-ea"/>
                <a:cs typeface="+mn-ea"/>
              </a:rPr>
              <a:t>改正规范结果全部标注图</a:t>
            </a:r>
            <a:endParaRPr lang="zh-CN" altLang="en-US">
              <a:solidFill>
                <a:srgbClr val="FF0000"/>
              </a:solidFill>
              <a:latin typeface="+mn-ea"/>
              <a:cs typeface="+mn-ea"/>
            </a:endParaRPr>
          </a:p>
          <a:p>
            <a:pPr indent="0"/>
            <a:endParaRPr lang="zh-CN" altLang="en-US">
              <a:solidFill>
                <a:schemeClr val="tx1"/>
              </a:solidFill>
              <a:latin typeface="+mn-ea"/>
              <a:cs typeface="+mn-ea"/>
            </a:endParaRPr>
          </a:p>
          <a:p>
            <a:pPr indent="0"/>
            <a:endParaRPr lang="zh-CN" altLang="en-US" sz="1400">
              <a:solidFill>
                <a:srgbClr val="FF0000"/>
              </a:solidFill>
              <a:latin typeface="+mn-ea"/>
              <a:cs typeface="+mn-ea"/>
            </a:endParaRPr>
          </a:p>
          <a:p>
            <a:pPr indent="0"/>
            <a:endParaRPr lang="zh-CN" altLang="en-US" sz="1400">
              <a:solidFill>
                <a:srgbClr val="FF0000"/>
              </a:solidFill>
              <a:latin typeface="+mn-ea"/>
              <a:cs typeface="+mn-ea"/>
            </a:endParaRPr>
          </a:p>
        </p:txBody>
      </p:sp>
      <p:pic>
        <p:nvPicPr>
          <p:cNvPr id="2" name="图片 23" descr="2016.7.7公差标注改错题"/>
          <p:cNvPicPr>
            <a:picLocks noChangeAspect="1"/>
          </p:cNvPicPr>
          <p:nvPr/>
        </p:nvPicPr>
        <p:blipFill>
          <a:blip r:embed="rId1"/>
          <a:srcRect l="27802" t="9952" r="24641" b="6403"/>
          <a:stretch>
            <a:fillRect/>
          </a:stretch>
        </p:blipFill>
        <p:spPr>
          <a:xfrm>
            <a:off x="208280" y="1569085"/>
            <a:ext cx="5527103" cy="666000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103505" y="307975"/>
            <a:ext cx="5464175" cy="9047480"/>
          </a:xfrm>
          <a:prstGeom prst="rect">
            <a:avLst/>
          </a:prstGeom>
          <a:noFill/>
          <a:ln w="9525">
            <a:noFill/>
          </a:ln>
        </p:spPr>
        <p:txBody>
          <a:bodyPr wrap="square">
            <a:spAutoFit/>
          </a:bodyPr>
          <a:p>
            <a:pPr indent="0"/>
            <a:r>
              <a:rPr lang="en-US" altLang="zh-CN" sz="1600">
                <a:latin typeface="+mn-ea"/>
                <a:cs typeface="+mn-ea"/>
              </a:rPr>
              <a:t>2</a:t>
            </a:r>
            <a:r>
              <a:rPr lang="zh-CN" altLang="en-US" sz="1600">
                <a:latin typeface="+mn-ea"/>
                <a:cs typeface="+mn-ea"/>
              </a:rPr>
              <a:t>、</a:t>
            </a:r>
            <a:r>
              <a:rPr lang="zh-CN" sz="1600">
                <a:latin typeface="+mn-ea"/>
                <a:cs typeface="+mn-ea"/>
              </a:rPr>
              <a:t>改正几何公差标注（图</a:t>
            </a:r>
            <a:r>
              <a:rPr lang="en-US" altLang="zh-CN" sz="1600">
                <a:latin typeface="+mn-ea"/>
                <a:cs typeface="+mn-ea"/>
              </a:rPr>
              <a:t>2</a:t>
            </a:r>
            <a:r>
              <a:rPr lang="zh-CN" sz="1600">
                <a:latin typeface="+mn-ea"/>
                <a:cs typeface="+mn-ea"/>
              </a:rPr>
              <a:t>所示）上的错误；全部改正的结果直接标注在以下空白图</a:t>
            </a:r>
            <a:r>
              <a:rPr lang="en-US" altLang="zh-CN" sz="1600">
                <a:latin typeface="+mn-ea"/>
                <a:cs typeface="+mn-ea"/>
              </a:rPr>
              <a:t>2</a:t>
            </a:r>
            <a:r>
              <a:rPr lang="zh-CN" sz="1600">
                <a:latin typeface="+mn-ea"/>
                <a:cs typeface="+mn-ea"/>
              </a:rPr>
              <a:t>-1 上。  （不得改变几何公差项目及数量）（10分）</a:t>
            </a:r>
            <a:endParaRPr lang="zh-CN"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a:latin typeface="+mn-ea"/>
              <a:cs typeface="+mn-ea"/>
            </a:endParaRPr>
          </a:p>
          <a:p>
            <a:pPr indent="0"/>
            <a:r>
              <a:rPr lang="zh-CN" altLang="en-US">
                <a:latin typeface="+mn-ea"/>
                <a:cs typeface="+mn-ea"/>
              </a:rPr>
              <a:t>           图</a:t>
            </a:r>
            <a:r>
              <a:rPr lang="en-US" altLang="zh-CN">
                <a:latin typeface="+mn-ea"/>
                <a:cs typeface="+mn-ea"/>
              </a:rPr>
              <a:t>2 </a:t>
            </a:r>
            <a:r>
              <a:rPr lang="zh-CN" altLang="en-US">
                <a:latin typeface="+mn-ea"/>
                <a:cs typeface="+mn-ea"/>
                <a:sym typeface="+mn-ea"/>
              </a:rPr>
              <a:t>某零件设计图样及有关标注</a:t>
            </a:r>
            <a:endParaRPr lang="zh-CN" altLang="en-US">
              <a:latin typeface="+mn-ea"/>
              <a:cs typeface="+mn-ea"/>
            </a:endParaRPr>
          </a:p>
          <a:p>
            <a:pPr indent="0"/>
            <a:endParaRPr lang="zh-CN" altLang="en-US">
              <a:latin typeface="+mn-ea"/>
              <a:cs typeface="+mn-ea"/>
            </a:endParaRPr>
          </a:p>
        </p:txBody>
      </p:sp>
      <p:pic>
        <p:nvPicPr>
          <p:cNvPr id="2" name="图片 -2147482607"/>
          <p:cNvPicPr>
            <a:picLocks noChangeAspect="1"/>
          </p:cNvPicPr>
          <p:nvPr/>
        </p:nvPicPr>
        <p:blipFill>
          <a:blip r:embed="rId1"/>
          <a:stretch>
            <a:fillRect/>
          </a:stretch>
        </p:blipFill>
        <p:spPr>
          <a:xfrm rot="5400000">
            <a:off x="-877978" y="2438268"/>
            <a:ext cx="7003056" cy="48240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218440" y="179705"/>
            <a:ext cx="5278120" cy="8678545"/>
          </a:xfrm>
          <a:prstGeom prst="rect">
            <a:avLst/>
          </a:prstGeom>
          <a:noFill/>
          <a:ln w="9525">
            <a:noFill/>
          </a:ln>
        </p:spPr>
        <p:txBody>
          <a:bodyPr wrap="square">
            <a:spAutoFit/>
          </a:bodyPr>
          <a:p>
            <a:pPr indent="0"/>
            <a:r>
              <a:rPr lang="zh-CN" altLang="en-US">
                <a:solidFill>
                  <a:srgbClr val="FF0000"/>
                </a:solidFill>
                <a:latin typeface="+mn-ea"/>
                <a:cs typeface="+mn-ea"/>
                <a:sym typeface="+mn-ea"/>
              </a:rPr>
              <a:t>解答如下：规范改正结果全部标注在图</a:t>
            </a:r>
            <a:r>
              <a:rPr lang="en-US" altLang="zh-CN">
                <a:solidFill>
                  <a:srgbClr val="FF0000"/>
                </a:solidFill>
                <a:latin typeface="+mn-ea"/>
                <a:cs typeface="+mn-ea"/>
                <a:sym typeface="+mn-ea"/>
              </a:rPr>
              <a:t>2</a:t>
            </a:r>
            <a:r>
              <a:rPr lang="zh-CN" altLang="en-US">
                <a:solidFill>
                  <a:srgbClr val="FF0000"/>
                </a:solidFill>
                <a:latin typeface="+mn-ea"/>
                <a:cs typeface="+mn-ea"/>
                <a:sym typeface="+mn-ea"/>
              </a:rPr>
              <a:t>-1 上</a:t>
            </a:r>
            <a:endParaRPr lang="zh-CN" altLang="en-US">
              <a:solidFill>
                <a:srgbClr val="FF0000"/>
              </a:solidFill>
              <a:latin typeface="+mn-ea"/>
              <a:cs typeface="+mn-ea"/>
              <a:sym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sym typeface="+mn-ea"/>
            </a:endParaRPr>
          </a:p>
          <a:p>
            <a:pPr indent="0"/>
            <a:r>
              <a:rPr lang="zh-CN" altLang="en-US">
                <a:latin typeface="+mn-ea"/>
                <a:cs typeface="+mn-ea"/>
                <a:sym typeface="+mn-ea"/>
              </a:rPr>
              <a:t>         </a:t>
            </a:r>
            <a:r>
              <a:rPr lang="zh-CN" altLang="en-US">
                <a:solidFill>
                  <a:srgbClr val="FF0000"/>
                </a:solidFill>
                <a:latin typeface="+mn-ea"/>
                <a:cs typeface="+mn-ea"/>
                <a:sym typeface="+mn-ea"/>
              </a:rPr>
              <a:t>图</a:t>
            </a:r>
            <a:r>
              <a:rPr lang="en-US" altLang="zh-CN">
                <a:solidFill>
                  <a:srgbClr val="FF0000"/>
                </a:solidFill>
                <a:latin typeface="+mn-ea"/>
                <a:cs typeface="+mn-ea"/>
                <a:sym typeface="+mn-ea"/>
              </a:rPr>
              <a:t>2</a:t>
            </a:r>
            <a:r>
              <a:rPr lang="zh-CN" altLang="en-US">
                <a:solidFill>
                  <a:srgbClr val="FF0000"/>
                </a:solidFill>
                <a:latin typeface="+mn-ea"/>
                <a:cs typeface="+mn-ea"/>
                <a:sym typeface="+mn-ea"/>
              </a:rPr>
              <a:t>-1 为图</a:t>
            </a:r>
            <a:r>
              <a:rPr lang="en-US" altLang="zh-CN">
                <a:solidFill>
                  <a:srgbClr val="FF0000"/>
                </a:solidFill>
                <a:latin typeface="+mn-ea"/>
                <a:cs typeface="+mn-ea"/>
                <a:sym typeface="+mn-ea"/>
              </a:rPr>
              <a:t>2</a:t>
            </a:r>
            <a:r>
              <a:rPr lang="zh-CN" altLang="en-US">
                <a:solidFill>
                  <a:srgbClr val="FF0000"/>
                </a:solidFill>
                <a:latin typeface="+mn-ea"/>
                <a:cs typeface="+mn-ea"/>
                <a:sym typeface="+mn-ea"/>
              </a:rPr>
              <a:t>改正规范结果全部标注图</a:t>
            </a:r>
            <a:endParaRPr lang="zh-CN" altLang="en-US">
              <a:latin typeface="+mn-ea"/>
              <a:cs typeface="+mn-ea"/>
            </a:endParaRPr>
          </a:p>
        </p:txBody>
      </p:sp>
      <p:pic>
        <p:nvPicPr>
          <p:cNvPr id="2" name="Picture 8"/>
          <p:cNvPicPr>
            <a:picLocks noChangeAspect="1"/>
          </p:cNvPicPr>
          <p:nvPr/>
        </p:nvPicPr>
        <p:blipFill>
          <a:blip r:embed="rId1"/>
          <a:stretch>
            <a:fillRect/>
          </a:stretch>
        </p:blipFill>
        <p:spPr>
          <a:xfrm rot="5400000">
            <a:off x="-817880" y="2237105"/>
            <a:ext cx="7326630" cy="429323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416560" y="307975"/>
            <a:ext cx="5080000" cy="8462645"/>
          </a:xfrm>
          <a:prstGeom prst="rect">
            <a:avLst/>
          </a:prstGeom>
          <a:noFill/>
          <a:ln w="9525">
            <a:noFill/>
          </a:ln>
        </p:spPr>
        <p:txBody>
          <a:bodyPr>
            <a:spAutoFit/>
          </a:bodyPr>
          <a:p>
            <a:pPr indent="0"/>
            <a:endParaRPr lang="zh-CN" sz="1600" b="1">
              <a:latin typeface="+mn-ea"/>
              <a:cs typeface="+mn-ea"/>
            </a:endParaRPr>
          </a:p>
          <a:p>
            <a:pPr indent="0"/>
            <a:r>
              <a:rPr lang="en-US" altLang="zh-CN" sz="1600" b="0">
                <a:latin typeface="+mn-ea"/>
                <a:cs typeface="+mn-ea"/>
              </a:rPr>
              <a:t>3</a:t>
            </a:r>
            <a:r>
              <a:rPr lang="zh-CN" altLang="en-US" sz="1600" b="0">
                <a:latin typeface="+mn-ea"/>
                <a:cs typeface="+mn-ea"/>
              </a:rPr>
              <a:t>、要求改正下图</a:t>
            </a:r>
            <a:r>
              <a:rPr lang="en-US" altLang="zh-CN" sz="1600" b="0">
                <a:latin typeface="+mn-ea"/>
                <a:cs typeface="+mn-ea"/>
              </a:rPr>
              <a:t>3</a:t>
            </a:r>
            <a:r>
              <a:rPr lang="zh-CN" altLang="en-US" sz="1600" b="0">
                <a:latin typeface="+mn-ea"/>
                <a:cs typeface="+mn-ea"/>
              </a:rPr>
              <a:t>中各项几何公差图样标注的错误(不得更改几何公差特征项目符号)，要求</a:t>
            </a:r>
            <a:r>
              <a:rPr lang="zh-CN" altLang="en-US" sz="1600">
                <a:solidFill>
                  <a:schemeClr val="tx1"/>
                </a:solidFill>
                <a:latin typeface="+mn-ea"/>
                <a:cs typeface="+mn-ea"/>
                <a:sym typeface="+mn-ea"/>
              </a:rPr>
              <a:t>规范改正结果全部标注在图</a:t>
            </a:r>
            <a:r>
              <a:rPr lang="en-US" altLang="zh-CN" sz="1600">
                <a:solidFill>
                  <a:schemeClr val="tx1"/>
                </a:solidFill>
                <a:latin typeface="+mn-ea"/>
                <a:cs typeface="+mn-ea"/>
                <a:sym typeface="+mn-ea"/>
              </a:rPr>
              <a:t>3</a:t>
            </a:r>
            <a:r>
              <a:rPr lang="zh-CN" altLang="en-US" sz="1600">
                <a:solidFill>
                  <a:schemeClr val="tx1"/>
                </a:solidFill>
                <a:latin typeface="+mn-ea"/>
                <a:cs typeface="+mn-ea"/>
                <a:sym typeface="+mn-ea"/>
              </a:rPr>
              <a:t>-1 上。（每错改正2分，共14分    ）</a:t>
            </a:r>
            <a:endParaRPr lang="zh-CN" altLang="en-US" sz="1600" b="0">
              <a:solidFill>
                <a:schemeClr val="tx1"/>
              </a:solidFill>
              <a:latin typeface="+mn-ea"/>
              <a:cs typeface="+mn-ea"/>
            </a:endParaRPr>
          </a:p>
          <a:p>
            <a:pPr indent="0"/>
            <a:endParaRPr lang="zh-CN" altLang="en-US" sz="1600">
              <a:solidFill>
                <a:schemeClr val="tx1"/>
              </a:solidFill>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r>
              <a:rPr lang="zh-CN" altLang="en-US" sz="1600">
                <a:latin typeface="+mn-ea"/>
                <a:cs typeface="+mn-ea"/>
                <a:sym typeface="+mn-ea"/>
              </a:rPr>
              <a:t>         </a:t>
            </a:r>
            <a:endParaRPr lang="zh-CN" altLang="en-US" sz="1600">
              <a:latin typeface="+mn-ea"/>
              <a:cs typeface="+mn-ea"/>
              <a:sym typeface="+mn-ea"/>
            </a:endParaRPr>
          </a:p>
          <a:p>
            <a:pPr indent="0"/>
            <a:endParaRPr lang="zh-CN" altLang="en-US" sz="1600">
              <a:latin typeface="+mn-ea"/>
              <a:cs typeface="+mn-ea"/>
              <a:sym typeface="+mn-ea"/>
            </a:endParaRPr>
          </a:p>
          <a:p>
            <a:pPr indent="0"/>
            <a:r>
              <a:rPr lang="zh-CN" altLang="en-US" sz="1600">
                <a:latin typeface="+mn-ea"/>
                <a:cs typeface="+mn-ea"/>
                <a:sym typeface="+mn-ea"/>
              </a:rPr>
              <a:t>       图</a:t>
            </a:r>
            <a:r>
              <a:rPr lang="en-US" altLang="zh-CN" sz="1600">
                <a:latin typeface="+mn-ea"/>
                <a:cs typeface="+mn-ea"/>
                <a:sym typeface="+mn-ea"/>
              </a:rPr>
              <a:t>3 </a:t>
            </a:r>
            <a:r>
              <a:rPr lang="zh-CN" altLang="en-US" sz="1600">
                <a:latin typeface="+mn-ea"/>
                <a:cs typeface="+mn-ea"/>
                <a:sym typeface="+mn-ea"/>
              </a:rPr>
              <a:t>某零件设计图样及有关标注</a:t>
            </a:r>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p:txBody>
      </p:sp>
      <p:pic>
        <p:nvPicPr>
          <p:cNvPr id="2" name="Picture 7" descr="17"/>
          <p:cNvPicPr>
            <a:picLocks noChangeAspect="1"/>
          </p:cNvPicPr>
          <p:nvPr/>
        </p:nvPicPr>
        <p:blipFill>
          <a:blip r:embed="rId1"/>
          <a:stretch>
            <a:fillRect/>
          </a:stretch>
        </p:blipFill>
        <p:spPr>
          <a:xfrm>
            <a:off x="416560" y="1780540"/>
            <a:ext cx="5148000" cy="3553127"/>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416560" y="307975"/>
            <a:ext cx="5080000" cy="8709025"/>
          </a:xfrm>
          <a:prstGeom prst="rect">
            <a:avLst/>
          </a:prstGeom>
          <a:noFill/>
          <a:ln w="9525">
            <a:noFill/>
          </a:ln>
        </p:spPr>
        <p:txBody>
          <a:bodyPr>
            <a:spAutoFit/>
          </a:bodyPr>
          <a:p>
            <a:pPr indent="0"/>
            <a:endParaRPr lang="zh-CN" sz="1600" b="1">
              <a:latin typeface="+mn-ea"/>
              <a:cs typeface="+mn-ea"/>
            </a:endParaRPr>
          </a:p>
          <a:p>
            <a:pPr indent="0"/>
            <a:r>
              <a:rPr lang="zh-CN" sz="1600" b="0">
                <a:solidFill>
                  <a:srgbClr val="FF0000"/>
                </a:solidFill>
                <a:latin typeface="+mn-ea"/>
                <a:cs typeface="+mn-ea"/>
              </a:rPr>
              <a:t>解答如下：</a:t>
            </a:r>
            <a:r>
              <a:rPr lang="zh-CN" altLang="en-US" sz="1600">
                <a:solidFill>
                  <a:srgbClr val="FF0000"/>
                </a:solidFill>
                <a:latin typeface="+mn-ea"/>
                <a:cs typeface="+mn-ea"/>
                <a:sym typeface="+mn-ea"/>
              </a:rPr>
              <a:t>改正结果全部标注在图</a:t>
            </a:r>
            <a:r>
              <a:rPr lang="en-US" altLang="zh-CN" sz="1600">
                <a:solidFill>
                  <a:srgbClr val="FF0000"/>
                </a:solidFill>
                <a:latin typeface="+mn-ea"/>
                <a:cs typeface="+mn-ea"/>
                <a:sym typeface="+mn-ea"/>
              </a:rPr>
              <a:t>3</a:t>
            </a:r>
            <a:r>
              <a:rPr lang="zh-CN" altLang="en-US" sz="1600">
                <a:solidFill>
                  <a:srgbClr val="FF0000"/>
                </a:solidFill>
                <a:latin typeface="+mn-ea"/>
                <a:cs typeface="+mn-ea"/>
                <a:sym typeface="+mn-ea"/>
              </a:rPr>
              <a:t>-1 上（每错改正2分，共14分）。</a:t>
            </a:r>
            <a:endParaRPr lang="zh-CN" altLang="en-US" sz="1600" b="0">
              <a:solidFill>
                <a:srgbClr val="FF0000"/>
              </a:solidFill>
              <a:latin typeface="+mn-ea"/>
              <a:cs typeface="+mn-ea"/>
            </a:endParaRPr>
          </a:p>
          <a:p>
            <a:pPr indent="0"/>
            <a:r>
              <a:rPr lang="zh-CN" sz="1600" b="0">
                <a:latin typeface="+mn-ea"/>
                <a:cs typeface="+mn-ea"/>
              </a:rPr>
              <a:t>               </a:t>
            </a:r>
            <a:endParaRPr lang="zh-CN" sz="1600" b="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r>
              <a:rPr lang="zh-CN" altLang="en-US" sz="1600">
                <a:solidFill>
                  <a:srgbClr val="FF0000"/>
                </a:solidFill>
                <a:latin typeface="+mn-ea"/>
                <a:cs typeface="+mn-ea"/>
                <a:sym typeface="+mn-ea"/>
              </a:rPr>
              <a:t>   图</a:t>
            </a:r>
            <a:r>
              <a:rPr lang="en-US" altLang="zh-CN" sz="1600">
                <a:solidFill>
                  <a:srgbClr val="FF0000"/>
                </a:solidFill>
                <a:latin typeface="+mn-ea"/>
                <a:cs typeface="+mn-ea"/>
                <a:sym typeface="+mn-ea"/>
              </a:rPr>
              <a:t>3</a:t>
            </a:r>
            <a:r>
              <a:rPr lang="zh-CN" altLang="en-US" sz="1600">
                <a:solidFill>
                  <a:srgbClr val="FF0000"/>
                </a:solidFill>
                <a:latin typeface="+mn-ea"/>
                <a:cs typeface="+mn-ea"/>
                <a:sym typeface="+mn-ea"/>
              </a:rPr>
              <a:t>-1 为图</a:t>
            </a:r>
            <a:r>
              <a:rPr lang="en-US" altLang="zh-CN" sz="1600">
                <a:solidFill>
                  <a:srgbClr val="FF0000"/>
                </a:solidFill>
                <a:latin typeface="+mn-ea"/>
                <a:cs typeface="+mn-ea"/>
                <a:sym typeface="+mn-ea"/>
              </a:rPr>
              <a:t>3</a:t>
            </a:r>
            <a:r>
              <a:rPr lang="zh-CN" altLang="en-US" sz="1600">
                <a:solidFill>
                  <a:srgbClr val="FF0000"/>
                </a:solidFill>
                <a:latin typeface="+mn-ea"/>
                <a:cs typeface="+mn-ea"/>
                <a:sym typeface="+mn-ea"/>
              </a:rPr>
              <a:t>改正规范结果全部标注图</a:t>
            </a:r>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p:txBody>
      </p:sp>
      <p:pic>
        <p:nvPicPr>
          <p:cNvPr id="2" name="图片 -2147482615"/>
          <p:cNvPicPr>
            <a:picLocks noChangeAspect="1"/>
          </p:cNvPicPr>
          <p:nvPr/>
        </p:nvPicPr>
        <p:blipFill>
          <a:blip r:embed="rId1"/>
          <a:stretch>
            <a:fillRect/>
          </a:stretch>
        </p:blipFill>
        <p:spPr>
          <a:xfrm>
            <a:off x="574675" y="1331595"/>
            <a:ext cx="4788000" cy="4550834"/>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118745" y="307975"/>
            <a:ext cx="5448935" cy="8678545"/>
          </a:xfrm>
          <a:prstGeom prst="rect">
            <a:avLst/>
          </a:prstGeom>
          <a:noFill/>
          <a:ln w="9525">
            <a:noFill/>
          </a:ln>
        </p:spPr>
        <p:txBody>
          <a:bodyPr wrap="square">
            <a:spAutoFit/>
          </a:bodyPr>
          <a:p>
            <a:pPr indent="0"/>
            <a:r>
              <a:rPr lang="en-US" altLang="zh-CN" sz="1600" b="1">
                <a:latin typeface="+mn-ea"/>
                <a:cs typeface="+mn-ea"/>
              </a:rPr>
              <a:t>4</a:t>
            </a:r>
            <a:r>
              <a:rPr lang="zh-CN" altLang="en-US" sz="1600" b="1">
                <a:latin typeface="+mn-ea"/>
                <a:cs typeface="+mn-ea"/>
              </a:rPr>
              <a:t>、</a:t>
            </a:r>
            <a:r>
              <a:rPr lang="zh-CN">
                <a:latin typeface="+mn-ea"/>
                <a:cs typeface="+mn-ea"/>
              </a:rPr>
              <a:t>改正图</a:t>
            </a:r>
            <a:r>
              <a:rPr lang="en-US" altLang="zh-CN">
                <a:latin typeface="+mn-ea"/>
                <a:cs typeface="+mn-ea"/>
              </a:rPr>
              <a:t>4</a:t>
            </a:r>
            <a:r>
              <a:rPr lang="zh-CN">
                <a:latin typeface="+mn-ea"/>
                <a:cs typeface="+mn-ea"/>
              </a:rPr>
              <a:t>中各项几何公差标注的错误（不允许更    改几何公差项目与数量）（10分）</a:t>
            </a:r>
            <a:endParaRPr lang="zh-CN">
              <a:latin typeface="+mn-ea"/>
              <a:cs typeface="+mn-ea"/>
            </a:endParaRPr>
          </a:p>
          <a:p>
            <a:pPr indent="0"/>
            <a:r>
              <a:rPr lang="zh-CN">
                <a:latin typeface="+mn-ea"/>
                <a:cs typeface="+mn-ea"/>
              </a:rPr>
              <a:t>（请改正之后在空白图</a:t>
            </a:r>
            <a:r>
              <a:rPr lang="en-US" altLang="zh-CN">
                <a:latin typeface="+mn-ea"/>
                <a:cs typeface="+mn-ea"/>
              </a:rPr>
              <a:t>4</a:t>
            </a:r>
            <a:r>
              <a:rPr lang="zh-CN">
                <a:latin typeface="+mn-ea"/>
                <a:cs typeface="+mn-ea"/>
              </a:rPr>
              <a:t>-1上全部正确标注）。</a:t>
            </a:r>
            <a:endParaRPr lang="zh-CN">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r>
              <a:rPr lang="zh-CN" altLang="en-US">
                <a:latin typeface="+mn-ea"/>
                <a:cs typeface="+mn-ea"/>
              </a:rPr>
              <a:t>      图</a:t>
            </a:r>
            <a:r>
              <a:rPr lang="en-US" altLang="zh-CN">
                <a:latin typeface="+mn-ea"/>
                <a:cs typeface="+mn-ea"/>
              </a:rPr>
              <a:t>4</a:t>
            </a:r>
            <a:r>
              <a:rPr lang="en-US" altLang="zh-CN">
                <a:latin typeface="+mn-ea"/>
                <a:cs typeface="+mn-ea"/>
              </a:rPr>
              <a:t>  </a:t>
            </a:r>
            <a:r>
              <a:rPr lang="zh-CN" altLang="en-US">
                <a:latin typeface="+mn-ea"/>
                <a:cs typeface="+mn-ea"/>
                <a:sym typeface="+mn-ea"/>
              </a:rPr>
              <a:t>某零件设计图样及有关标注</a:t>
            </a:r>
            <a:endParaRPr lang="zh-CN" altLang="en-US">
              <a:latin typeface="+mn-ea"/>
              <a:cs typeface="+mn-ea"/>
            </a:endParaRPr>
          </a:p>
          <a:p>
            <a:pPr indent="0"/>
            <a:endParaRPr lang="zh-CN" altLang="en-US">
              <a:latin typeface="+mn-ea"/>
              <a:cs typeface="+mn-ea"/>
            </a:endParaRPr>
          </a:p>
          <a:p>
            <a:pPr indent="0"/>
            <a:r>
              <a:rPr lang="zh-CN" altLang="en-US">
                <a:solidFill>
                  <a:srgbClr val="FF0000"/>
                </a:solidFill>
                <a:latin typeface="+mn-ea"/>
                <a:cs typeface="+mn-ea"/>
              </a:rPr>
              <a:t>解答如下：</a:t>
            </a:r>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endParaRPr lang="zh-CN" altLang="en-US">
              <a:latin typeface="+mn-ea"/>
              <a:cs typeface="+mn-ea"/>
            </a:endParaRPr>
          </a:p>
          <a:p>
            <a:pPr indent="0"/>
            <a:r>
              <a:rPr lang="zh-CN" altLang="en-US">
                <a:latin typeface="+mn-ea"/>
                <a:cs typeface="+mn-ea"/>
                <a:sym typeface="+mn-ea"/>
              </a:rPr>
              <a:t>       </a:t>
            </a:r>
            <a:endParaRPr lang="zh-CN" altLang="en-US">
              <a:latin typeface="+mn-ea"/>
              <a:cs typeface="+mn-ea"/>
              <a:sym typeface="+mn-ea"/>
            </a:endParaRPr>
          </a:p>
          <a:p>
            <a:pPr indent="0"/>
            <a:r>
              <a:rPr lang="zh-CN" altLang="en-US">
                <a:latin typeface="+mn-ea"/>
                <a:cs typeface="+mn-ea"/>
                <a:sym typeface="+mn-ea"/>
              </a:rPr>
              <a:t>    </a:t>
            </a:r>
            <a:r>
              <a:rPr lang="zh-CN" altLang="en-US">
                <a:solidFill>
                  <a:srgbClr val="FF0000"/>
                </a:solidFill>
                <a:latin typeface="+mn-ea"/>
                <a:cs typeface="+mn-ea"/>
                <a:sym typeface="+mn-ea"/>
              </a:rPr>
              <a:t> 图</a:t>
            </a:r>
            <a:r>
              <a:rPr lang="en-US" altLang="zh-CN">
                <a:solidFill>
                  <a:srgbClr val="FF0000"/>
                </a:solidFill>
                <a:latin typeface="+mn-ea"/>
                <a:cs typeface="+mn-ea"/>
                <a:sym typeface="+mn-ea"/>
              </a:rPr>
              <a:t>4</a:t>
            </a:r>
            <a:r>
              <a:rPr lang="zh-CN" altLang="en-US">
                <a:solidFill>
                  <a:srgbClr val="FF0000"/>
                </a:solidFill>
                <a:latin typeface="+mn-ea"/>
                <a:cs typeface="+mn-ea"/>
                <a:sym typeface="+mn-ea"/>
              </a:rPr>
              <a:t>-1 为图</a:t>
            </a:r>
            <a:r>
              <a:rPr lang="en-US" altLang="zh-CN">
                <a:solidFill>
                  <a:srgbClr val="FF0000"/>
                </a:solidFill>
                <a:latin typeface="+mn-ea"/>
                <a:cs typeface="+mn-ea"/>
                <a:sym typeface="+mn-ea"/>
              </a:rPr>
              <a:t>4</a:t>
            </a:r>
            <a:r>
              <a:rPr lang="zh-CN" altLang="en-US">
                <a:solidFill>
                  <a:srgbClr val="FF0000"/>
                </a:solidFill>
                <a:latin typeface="+mn-ea"/>
                <a:cs typeface="+mn-ea"/>
                <a:sym typeface="+mn-ea"/>
              </a:rPr>
              <a:t>改正规范结果全部标注图</a:t>
            </a:r>
            <a:endParaRPr lang="zh-CN" altLang="en-US">
              <a:solidFill>
                <a:schemeClr val="tx1"/>
              </a:solidFill>
              <a:latin typeface="+mn-ea"/>
              <a:cs typeface="+mn-ea"/>
            </a:endParaRPr>
          </a:p>
          <a:p>
            <a:pPr indent="0"/>
            <a:endParaRPr lang="zh-CN" altLang="en-US">
              <a:solidFill>
                <a:schemeClr val="tx1"/>
              </a:solidFill>
              <a:latin typeface="+mn-ea"/>
              <a:cs typeface="+mn-ea"/>
            </a:endParaRPr>
          </a:p>
          <a:p>
            <a:pPr indent="0"/>
            <a:endParaRPr lang="zh-CN" altLang="en-US">
              <a:latin typeface="+mn-ea"/>
              <a:cs typeface="+mn-ea"/>
            </a:endParaRPr>
          </a:p>
        </p:txBody>
      </p:sp>
      <p:pic>
        <p:nvPicPr>
          <p:cNvPr id="2" name="图片 209" descr="用图 Model (1)"/>
          <p:cNvPicPr>
            <a:picLocks noChangeAspect="1"/>
          </p:cNvPicPr>
          <p:nvPr/>
        </p:nvPicPr>
        <p:blipFill>
          <a:blip r:embed="rId1"/>
          <a:stretch>
            <a:fillRect/>
          </a:stretch>
        </p:blipFill>
        <p:spPr>
          <a:xfrm>
            <a:off x="903605" y="1610360"/>
            <a:ext cx="4079240" cy="2139950"/>
          </a:xfrm>
          <a:prstGeom prst="rect">
            <a:avLst/>
          </a:prstGeom>
          <a:noFill/>
          <a:ln w="9525">
            <a:noFill/>
          </a:ln>
        </p:spPr>
      </p:pic>
      <p:pic>
        <p:nvPicPr>
          <p:cNvPr id="3" name="图片 -2147482615" descr="用图 Model (1)"/>
          <p:cNvPicPr>
            <a:picLocks noChangeAspect="1"/>
          </p:cNvPicPr>
          <p:nvPr/>
        </p:nvPicPr>
        <p:blipFill>
          <a:blip r:embed="rId2"/>
          <a:stretch>
            <a:fillRect/>
          </a:stretch>
        </p:blipFill>
        <p:spPr>
          <a:xfrm>
            <a:off x="665163" y="5320665"/>
            <a:ext cx="4140000" cy="2499764"/>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 name="文本框 123"/>
          <p:cNvSpPr txBox="1"/>
          <p:nvPr/>
        </p:nvSpPr>
        <p:spPr>
          <a:xfrm>
            <a:off x="416560" y="307975"/>
            <a:ext cx="5080000" cy="8462645"/>
          </a:xfrm>
          <a:prstGeom prst="rect">
            <a:avLst/>
          </a:prstGeom>
          <a:noFill/>
          <a:ln w="9525">
            <a:noFill/>
          </a:ln>
        </p:spPr>
        <p:txBody>
          <a:bodyPr>
            <a:spAutoFit/>
          </a:bodyPr>
          <a:p>
            <a:pPr indent="0"/>
            <a:endParaRPr lang="zh-CN" sz="1600" b="1">
              <a:latin typeface="+mn-ea"/>
              <a:cs typeface="+mn-ea"/>
            </a:endParaRPr>
          </a:p>
          <a:p>
            <a:pPr indent="0"/>
            <a:r>
              <a:rPr lang="zh-CN" sz="1600" b="0">
                <a:solidFill>
                  <a:srgbClr val="FF0000"/>
                </a:solidFill>
                <a:latin typeface="+mn-ea"/>
                <a:cs typeface="+mn-ea"/>
              </a:rPr>
              <a:t>示范题待续</a:t>
            </a:r>
            <a:r>
              <a:rPr lang="en-US" altLang="zh-CN" sz="1600" b="0">
                <a:solidFill>
                  <a:srgbClr val="FF0000"/>
                </a:solidFill>
                <a:latin typeface="+mn-ea"/>
                <a:cs typeface="+mn-ea"/>
              </a:rPr>
              <a:t>........</a:t>
            </a:r>
            <a:endParaRPr lang="zh-CN" sz="1600" b="0">
              <a:solidFill>
                <a:srgbClr val="FF0000"/>
              </a:solidFill>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a:p>
            <a:pPr indent="0"/>
            <a:endParaRPr lang="zh-CN" altLang="en-US" sz="1600">
              <a:latin typeface="+mn-ea"/>
              <a:cs typeface="+mn-ea"/>
            </a:endParaRPr>
          </a:p>
        </p:txBody>
      </p:sp>
    </p:spTree>
  </p:cSld>
  <p:clrMapOvr>
    <a:masterClrMapping/>
  </p:clrMapOvr>
</p:sld>
</file>

<file path=ppt/tags/tag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p="http://schemas.openxmlformats.org/presentationml/2006/main">
  <p:tag name="RAINPAPER" val="PaperScore"/>
</p:tagLst>
</file>

<file path=ppt/tags/tag3.xml><?xml version="1.0" encoding="utf-8"?>
<p:tagLst xmlns:p="http://schemas.openxmlformats.org/presentationml/2006/main">
  <p:tag name="RAINPAPER" val="PaperTitle"/>
</p:tagLst>
</file>

<file path=ppt/theme/theme1.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3576</Words>
  <Application>WPS 演示</Application>
  <PresentationFormat>宽屏</PresentationFormat>
  <Paragraphs>482</Paragraphs>
  <Slides>20</Slides>
  <Notes>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Arial</vt:lpstr>
      <vt:lpstr>宋体</vt:lpstr>
      <vt:lpstr>Wingdings</vt:lpstr>
      <vt:lpstr>微软雅黑</vt:lpstr>
      <vt:lpstr>Arial Unicode MS</vt:lpstr>
      <vt:lpstr>1_Office 主题​​</vt:lpstr>
      <vt:lpstr>2020互换性与测量技术基础      网上课堂“图样标注与改错题”         辅导练习答题示范           （供同学们参考）      教学班号 001和002          授课班级 机械工程18-5/6/7/8班   授课教师 郑盛新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ZHENG</dc:creator>
  <cp:lastModifiedBy>巢湖岸边</cp:lastModifiedBy>
  <cp:revision>177</cp:revision>
  <dcterms:created xsi:type="dcterms:W3CDTF">2019-06-19T02:08:00Z</dcterms:created>
  <dcterms:modified xsi:type="dcterms:W3CDTF">2020-04-10T04:49:07Z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