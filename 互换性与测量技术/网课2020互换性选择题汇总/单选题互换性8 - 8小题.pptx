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02" r:id="rId3"/>
    <p:sldId id="303" r:id="rId4"/>
    <p:sldId id="304" r:id="rId5"/>
    <p:sldId id="305" r:id="rId6"/>
    <p:sldId id="306" r:id="rId7"/>
    <p:sldId id="307" r:id="rId8"/>
    <p:sldId id="308" r:id="rId9"/>
    <p:sldId id="311" r:id="rId10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9" Type="http://schemas.openxmlformats.org/officeDocument/2006/relationships/tags" Target="../tags/tag18.xml"/><Relationship Id="rId18" Type="http://schemas.openxmlformats.org/officeDocument/2006/relationships/image" Target="../media/image2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2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52.xml"/><Relationship Id="rId2" Type="http://schemas.openxmlformats.org/officeDocument/2006/relationships/tags" Target="../tags/tag37.xml"/><Relationship Id="rId19" Type="http://schemas.openxmlformats.org/officeDocument/2006/relationships/image" Target="../media/image2.png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image" Target="../media/image3.emf"/><Relationship Id="rId11" Type="http://schemas.openxmlformats.org/officeDocument/2006/relationships/oleObject" Target="../embeddings/oleObject1.bin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2" Type="http://schemas.openxmlformats.org/officeDocument/2006/relationships/vmlDrawing" Target="../drawings/vmlDrawing2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69.xml"/><Relationship Id="rId2" Type="http://schemas.openxmlformats.org/officeDocument/2006/relationships/tags" Target="../tags/tag54.xml"/><Relationship Id="rId19" Type="http://schemas.openxmlformats.org/officeDocument/2006/relationships/image" Target="../media/image2.png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image" Target="../media/image4.emf"/><Relationship Id="rId11" Type="http://schemas.openxmlformats.org/officeDocument/2006/relationships/oleObject" Target="../embeddings/oleObject2.bin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2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3.xml"/><Relationship Id="rId17" Type="http://schemas.openxmlformats.org/officeDocument/2006/relationships/image" Target="../media/image2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2" Type="http://schemas.openxmlformats.org/officeDocument/2006/relationships/vmlDrawing" Target="../drawings/vmlDrawing3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20.xml"/><Relationship Id="rId2" Type="http://schemas.openxmlformats.org/officeDocument/2006/relationships/tags" Target="../tags/tag105.xml"/><Relationship Id="rId19" Type="http://schemas.openxmlformats.org/officeDocument/2006/relationships/image" Target="../media/image2.png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image" Target="../media/image4.emf"/><Relationship Id="rId11" Type="http://schemas.openxmlformats.org/officeDocument/2006/relationships/oleObject" Target="../embeddings/oleObject3.bin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37.xml"/><Relationship Id="rId2" Type="http://schemas.openxmlformats.org/officeDocument/2006/relationships/tags" Target="../tags/tag122.xml"/><Relationship Id="rId19" Type="http://schemas.openxmlformats.org/officeDocument/2006/relationships/image" Target="../media/image2.png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image" Target="../media/image5.emf"/><Relationship Id="rId11" Type="http://schemas.openxmlformats.org/officeDocument/2006/relationships/oleObject" Target="../embeddings/oleObject4.bin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eaLnBrk="1" hangingPunct="1">
              <a:buBlip>
                <a:blip r:embed="rId2"/>
              </a:buBlip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处理尺寸公差和几何（形位）公差相互关系的原则，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lvl="0" eaLnBrk="1" hangingPunct="1">
              <a:buBlip>
                <a:blip r:embed="rId2"/>
              </a:buBlip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称为（   ）原则？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最大实体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4A9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公差原则分成两类，以下表述正确的是（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独立原则及包容要求原则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相关原则及最大实体原则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独立原则及相关原则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包容要求原则及最大实体要求原则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该图样标注遵从的公差原则是（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包容要求原则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最大实体要求原则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485" name="Object 23"/>
          <p:cNvGraphicFramePr>
            <a:graphicFrameLocks noGrp="1" noChangeAspect="1"/>
          </p:cNvGraphicFramePr>
          <p:nvPr/>
        </p:nvGraphicFramePr>
        <p:xfrm>
          <a:off x="1291590" y="1226820"/>
          <a:ext cx="3275965" cy="189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1" imgW="4400550" imgH="3529330" progId="Visio.Drawing.6">
                  <p:embed/>
                </p:oleObj>
              </mc:Choice>
              <mc:Fallback>
                <p:oleObj name="" r:id="rId11" imgW="4400550" imgH="3529330" progId="Visio.Drawing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>
                      <a:xfrm>
                        <a:off x="1291590" y="1226820"/>
                        <a:ext cx="3275965" cy="189674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该图样标注遵从的公差原则是（   ）？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最大实体要求原则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包容要求原则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不知道何原则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Object 40"/>
          <p:cNvGraphicFramePr>
            <a:graphicFrameLocks noGrp="1" noChangeAspect="1"/>
          </p:cNvGraphicFramePr>
          <p:nvPr/>
        </p:nvGraphicFramePr>
        <p:xfrm>
          <a:off x="1143000" y="1285240"/>
          <a:ext cx="3719830" cy="1557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1" imgW="7329805" imgH="2329180" progId="Visio.Drawing.6">
                  <p:embed/>
                </p:oleObj>
              </mc:Choice>
              <mc:Fallback>
                <p:oleObj name="" r:id="rId11" imgW="7329805" imgH="2329180" progId="Visio.Drawing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/>
                      <a:srcRect t="27385" r="48072" b="4028"/>
                      <a:stretch>
                        <a:fillRect/>
                      </a:stretch>
                    </p:blipFill>
                    <p:spPr>
                      <a:xfrm>
                        <a:off x="1143000" y="1285240"/>
                        <a:ext cx="3719830" cy="155702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包容要求（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）设计标注，应用范围（场合）表述较正确的是（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常用于保证孔轴配合性质的场合</a:t>
            </a:r>
            <a:endParaRPr lang="zh-CN" altLang="en-US" sz="2400" dirty="0">
              <a:solidFill>
                <a:srgbClr val="00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eaLnBrk="1" hangingPunct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sym typeface="+mn-ea"/>
              </a:rPr>
              <a:t>主</a:t>
            </a: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要用于只要求可装配性的场合</a:t>
            </a:r>
            <a:endParaRPr lang="zh-CN" altLang="en-US" sz="2400" dirty="0">
              <a:solidFill>
                <a:srgbClr val="000000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提高零件合格率的场合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用最大实体边界保证所需要最小间隙的场合</a:t>
            </a:r>
            <a:endParaRPr lang="zh-CN" altLang="en-US" sz="240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最大实体要求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(M)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设计标注，应用范围（场合）表述较正确的是（ 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常用于保证孔轴配合性质的场合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indent="0" eaLnBrk="1" hangingPunct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00"/>
                </a:solidFill>
                <a:sym typeface="+mn-ea"/>
              </a:rPr>
              <a:t>主</a:t>
            </a:r>
            <a:r>
              <a:rPr lang="zh-CN" altLang="en-US" sz="2600" dirty="0">
                <a:solidFill>
                  <a:srgbClr val="000000"/>
                </a:solidFill>
                <a:latin typeface="+mj-ea"/>
                <a:ea typeface="+mj-ea"/>
                <a:sym typeface="+mn-ea"/>
              </a:rPr>
              <a:t>要用于只要求可装配性的场合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控制最大实体边界</a:t>
            </a:r>
            <a:r>
              <a:rPr lang="en-US" altLang="zh-CN" sz="2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MMB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的场合</a:t>
            </a:r>
            <a:endParaRPr lang="zh-CN" altLang="en-US" sz="26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eaLnBrk="1" hangingPunct="1">
              <a:buNone/>
            </a:pP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对非理想组成要素进行限制的场合。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该图标注的Ø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20</a:t>
            </a: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轴：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a.</a:t>
            </a: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采用的公差原则是（   ）？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b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.</a:t>
            </a: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最大实体边界尺寸为（    ）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mm?  c.</a:t>
            </a: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中心轴线的直线度误差允许达到最大值（   ）</a:t>
            </a:r>
            <a:r>
              <a:rPr lang="en-US" altLang="zh-CN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mm</a:t>
            </a:r>
            <a:r>
              <a:rPr lang="zh-CN" altLang="en-US" sz="16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？</a:t>
            </a:r>
            <a:endParaRPr lang="zh-CN" altLang="en-US" sz="16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zh-CN" altLang="en-US" sz="1600" b="1">
                <a:solidFill>
                  <a:srgbClr val="FF0000"/>
                </a:solidFill>
                <a:latin typeface="+mj-ea"/>
                <a:ea typeface="+mj-ea"/>
                <a:cs typeface="+mj-ea"/>
              </a:rPr>
              <a:t>以下选项正确的是（     ）？</a:t>
            </a:r>
            <a:endParaRPr lang="zh-CN" altLang="en-US" sz="1600" b="1">
              <a:solidFill>
                <a:srgbClr val="FF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a.</a:t>
            </a:r>
            <a:r>
              <a:rPr lang="zh-CN" altLang="en-US" sz="20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最大实体要求原则；</a:t>
            </a: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b.Ø20mm</a:t>
            </a:r>
            <a:endParaRPr lang="en-US" altLang="zh-CN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</a:rPr>
              <a:t>c. 0mm</a:t>
            </a:r>
            <a:endParaRPr lang="en-US" altLang="zh-CN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包容要求原则；</a:t>
            </a: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b.Ø19.97mm</a:t>
            </a:r>
            <a:endParaRPr lang="en-US" altLang="zh-CN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0.mm</a:t>
            </a:r>
            <a:endParaRPr lang="zh-CN" altLang="en-US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包容要求原则；</a:t>
            </a: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b.Ø20mm</a:t>
            </a:r>
            <a:endParaRPr lang="en-US" altLang="zh-CN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0.03mm</a:t>
            </a:r>
            <a:endParaRPr lang="zh-CN" altLang="en-US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最大实体要求原则 </a:t>
            </a: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b.Ø19.97mm</a:t>
            </a:r>
            <a:endParaRPr lang="en-US" altLang="zh-CN" sz="2000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0.03mm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Object 40"/>
          <p:cNvGraphicFramePr>
            <a:graphicFrameLocks noGrp="1" noChangeAspect="1"/>
          </p:cNvGraphicFramePr>
          <p:nvPr/>
        </p:nvGraphicFramePr>
        <p:xfrm>
          <a:off x="1283335" y="1111250"/>
          <a:ext cx="2838214" cy="11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" r:id="rId11" imgW="7329805" imgH="2329180" progId="Visio.Drawing.6">
                  <p:embed/>
                </p:oleObj>
              </mc:Choice>
              <mc:Fallback>
                <p:oleObj name="" r:id="rId11" imgW="7329805" imgH="2329180" progId="Visio.Drawing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/>
                      <a:srcRect t="27385" r="48072" b="4028"/>
                      <a:stretch>
                        <a:fillRect/>
                      </a:stretch>
                    </p:blipFill>
                    <p:spPr>
                      <a:xfrm>
                        <a:off x="1283335" y="1111250"/>
                        <a:ext cx="2838214" cy="1188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endParaRPr lang="zh-CN" altLang="en-US">
              <a:solidFill>
                <a:srgbClr val="000000"/>
              </a:solidFill>
              <a:latin typeface="+mj-ea"/>
              <a:ea typeface="+mj-ea"/>
              <a:cs typeface="+mj-ea"/>
              <a:sym typeface="+mn-ea"/>
            </a:endParaRPr>
          </a:p>
          <a:p>
            <a:pPr lvl="0" algn="l">
              <a:buNone/>
            </a:pP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该图标注的Ø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轴：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采用的公差原则是（   ）？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最大实体边界尺寸为（    ）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mm?  c.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中心轴线的直线度误差允许达到最大值（   ）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mm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？</a:t>
            </a:r>
            <a:r>
              <a:rPr lang="zh-CN" altLang="en-US" b="1">
                <a:solidFill>
                  <a:srgbClr val="FF0000"/>
                </a:solidFill>
                <a:latin typeface="+mj-ea"/>
                <a:ea typeface="+mj-ea"/>
                <a:cs typeface="+mj-ea"/>
                <a:sym typeface="+mn-ea"/>
              </a:rPr>
              <a:t>以下选项正确的是（     ）？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最大实体要求原则；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b.Ø10mm</a:t>
            </a:r>
            <a:endParaRPr lang="en-US" altLang="zh-CN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0.015mm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包容要求原则；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b.Ø9.97mm</a:t>
            </a:r>
            <a:endParaRPr lang="en-US" altLang="zh-CN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0.045mm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包容要求原则；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b.Ø10mm</a:t>
            </a:r>
            <a:endParaRPr lang="en-US" altLang="zh-CN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0.015mm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42950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a.</a:t>
            </a:r>
            <a:r>
              <a:rPr lang="zh-CN" altLang="en-US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最大实体要求原则 </a:t>
            </a: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b.Ø10mm</a:t>
            </a:r>
            <a:endParaRPr lang="en-US" altLang="zh-CN">
              <a:solidFill>
                <a:srgbClr val="000000"/>
              </a:solidFill>
              <a:latin typeface="+mj-ea"/>
              <a:ea typeface="+mj-ea"/>
              <a:cs typeface="+mj-ea"/>
            </a:endParaRPr>
          </a:p>
          <a:p>
            <a:pPr lvl="0" algn="l">
              <a:buNone/>
            </a:pPr>
            <a:r>
              <a:rPr lang="en-US" altLang="zh-CN">
                <a:solidFill>
                  <a:srgbClr val="000000"/>
                </a:solidFill>
                <a:latin typeface="+mj-ea"/>
                <a:ea typeface="+mj-ea"/>
                <a:cs typeface="+mj-ea"/>
                <a:sym typeface="+mn-ea"/>
              </a:rPr>
              <a:t>c. 0.045mm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42950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701" name="Object 90"/>
          <p:cNvGraphicFramePr>
            <a:graphicFrameLocks noGrp="1" noChangeAspect="1"/>
          </p:cNvGraphicFramePr>
          <p:nvPr/>
        </p:nvGraphicFramePr>
        <p:xfrm>
          <a:off x="1087755" y="1111250"/>
          <a:ext cx="1785965" cy="12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8644255" imgH="3557905" progId="Visio.Drawing.6">
                  <p:embed/>
                </p:oleObj>
              </mc:Choice>
              <mc:Fallback>
                <p:oleObj name="" r:id="rId11" imgW="8644255" imgH="3557905" progId="Visio.Drawing.6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/>
                      <a:srcRect t="16051" r="61405" b="19125"/>
                      <a:stretch>
                        <a:fillRect/>
                      </a:stretch>
                    </p:blipFill>
                    <p:spPr>
                      <a:xfrm>
                        <a:off x="1087755" y="1111250"/>
                        <a:ext cx="1785965" cy="1224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4A9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ags/tag87.xml><?xml version="1.0" encoding="utf-8"?>
<p:tagLst xmlns:p="http://schemas.openxmlformats.org/presentationml/2006/main">
  <p:tag name="RAINPROBLEM" val="ProblemBody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ags/tag121.xml><?xml version="1.0" encoding="utf-8"?>
<p:tagLst xmlns:p="http://schemas.openxmlformats.org/presentationml/2006/main">
  <p:tag name="RAINPROBLEM" val="ProblemBody"/>
</p:tagLst>
</file>

<file path=ppt/tags/tag122.xml><?xml version="1.0" encoding="utf-8"?>
<p:tagLst xmlns:p="http://schemas.openxmlformats.org/presentationml/2006/main">
  <p:tag name="RAINPROBLEM" val="ProblemItem"/>
</p:tagLst>
</file>

<file path=ppt/tags/tag123.xml><?xml version="1.0" encoding="utf-8"?>
<p:tagLst xmlns:p="http://schemas.openxmlformats.org/presentationml/2006/main">
  <p:tag name="RAINPROBLEM" val="ProblemItem"/>
</p:tagLst>
</file>

<file path=ppt/tags/tag124.xml><?xml version="1.0" encoding="utf-8"?>
<p:tagLst xmlns:p="http://schemas.openxmlformats.org/presentationml/2006/main">
  <p:tag name="RAINPROBLEM" val="ProblemItem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p="http://schemas.openxmlformats.org/presentationml/2006/main">
  <p:tag name="RAINPROBLEMTYPE" val="ProblemTypeMarker"/>
</p:tagLst>
</file>

<file path=ppt/tags/tag132.xml><?xml version="1.0" encoding="utf-8"?>
<p:tagLst xmlns:p="http://schemas.openxmlformats.org/presentationml/2006/main">
  <p:tag name="RAINPROBLEMTYPE" val="ProblemTypeMarker"/>
</p:tagLst>
</file>

<file path=ppt/tags/tag133.xml><?xml version="1.0" encoding="utf-8"?>
<p:tagLst xmlns:p="http://schemas.openxmlformats.org/presentationml/2006/main">
  <p:tag name="RAINPROBLEMTYPE" val="ProblemTypeMarker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" val="ProblemSetting"/>
  <p:tag name="RAINPROBLEMTYPE" val="MultipleChoice"/>
</p:tagLst>
</file>

<file path=ppt/tags/tag137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WPS 演示</Application>
  <PresentationFormat>宽屏</PresentationFormat>
  <Paragraphs>222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黑体</vt:lpstr>
      <vt:lpstr>Times New Roman</vt:lpstr>
      <vt:lpstr>Arial Unicode MS</vt:lpstr>
      <vt:lpstr>Office 主题​​</vt:lpstr>
      <vt:lpstr>Visio.Drawing.6</vt:lpstr>
      <vt:lpstr>Visio.Drawing.6</vt:lpstr>
      <vt:lpstr>Visio.Drawing.6</vt:lpstr>
      <vt:lpstr>Visio.Drawing.6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169</cp:revision>
  <dcterms:created xsi:type="dcterms:W3CDTF">2019-06-19T02:08:00Z</dcterms:created>
  <dcterms:modified xsi:type="dcterms:W3CDTF">2020-03-21T17:00:06Z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