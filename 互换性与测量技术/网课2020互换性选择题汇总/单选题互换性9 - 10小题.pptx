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4" r:id="rId3"/>
    <p:sldId id="315" r:id="rId4"/>
    <p:sldId id="316" r:id="rId5"/>
    <p:sldId id="317" r:id="rId6"/>
    <p:sldId id="318" r:id="rId7"/>
    <p:sldId id="319" r:id="rId8"/>
    <p:sldId id="321" r:id="rId9"/>
    <p:sldId id="322" r:id="rId10"/>
    <p:sldId id="323" r:id="rId11"/>
    <p:sldId id="324" r:id="rId12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9.xml"/><Relationship Id="rId17" Type="http://schemas.openxmlformats.org/officeDocument/2006/relationships/image" Target="../media/image1.png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6.xml"/><Relationship Id="rId17" Type="http://schemas.openxmlformats.org/officeDocument/2006/relationships/image" Target="../media/image1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3.xml"/><Relationship Id="rId17" Type="http://schemas.openxmlformats.org/officeDocument/2006/relationships/image" Target="../media/image1.png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0.xml"/><Relationship Id="rId17" Type="http://schemas.openxmlformats.org/officeDocument/2006/relationships/image" Target="../media/image1.png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37.xml"/><Relationship Id="rId17" Type="http://schemas.openxmlformats.org/officeDocument/2006/relationships/image" Target="../media/image1.png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54.xml"/><Relationship Id="rId17" Type="http://schemas.openxmlformats.org/officeDocument/2006/relationships/image" Target="../media/image1.png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71.xml"/><Relationship Id="rId17" Type="http://schemas.openxmlformats.org/officeDocument/2006/relationships/image" Target="../media/image1.png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+mn-ea"/>
              </a:rPr>
              <a:t>滚动轴承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+mn-ea"/>
              </a:rPr>
              <a:t>是一种在机器中起支承作用的高精度标准部件，其基本结构是由（     ）组成。</a:t>
            </a:r>
            <a:endParaRPr lang="zh-CN" altLang="en-US" sz="26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87755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sym typeface="+mn-ea"/>
              </a:rPr>
              <a:t>内圈、外圈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sym typeface="+mn-ea"/>
              </a:rPr>
              <a:t>滚动体（滚子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+mn-ea"/>
              </a:rPr>
              <a:t>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sym typeface="+mn-ea"/>
              </a:rPr>
              <a:t>保持架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A+B+C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zh-CN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0" indent="0">
              <a:buSzPct val="75000"/>
            </a:pPr>
            <a:endParaRPr lang="zh-CN" altLang="en-US" sz="26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pPr marL="0" indent="0">
              <a:buSzPct val="75000"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滚动轴承是一种标准件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+mn-ea"/>
              <a:cs typeface="+mn-ea"/>
            </a:endParaRPr>
          </a:p>
          <a:p>
            <a:pPr marL="0" indent="0">
              <a:buSzPct val="75000"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有内外两种互换性。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滚动轴承组成零件间为不完全互换性，按精度等级采用（    ）来实现的？ 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 </a:t>
            </a:r>
            <a:endParaRPr lang="zh-CN" altLang="en-US" sz="260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调整法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分组装配法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不需挑选法（不需辅助加工和修配）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附加修配和辅助加工法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滚动轴承是标准件，则外圈与箱体孔（外壳孔）安装配合的基准制度是</a:t>
            </a:r>
            <a:endParaRPr lang="zh-CN" altLang="en-US" sz="26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（  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任一基准制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无基准制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滚动轴承是标准件，则内圈与传动轴颈安装配合的基准制度是（  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任一基准制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无基准制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+mn-ea"/>
              </a:rPr>
              <a:t>滚动轴承的公差等级是由轴承的（      ）</a:t>
            </a:r>
            <a:r>
              <a: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决定的？</a:t>
            </a:r>
            <a:endParaRPr lang="zh-CN" altLang="en-US" sz="2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尺寸公差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旋转精度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旋转速度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尺寸公差与旋转精度</a:t>
            </a:r>
            <a:endParaRPr lang="zh-CN" altLang="en-US" sz="26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+mn-ea"/>
              </a:rPr>
              <a:t>滚动轴承根据尺寸公差和旋转精度分为（     ）级？</a:t>
            </a:r>
            <a:endParaRPr lang="zh-CN" altLang="en-US" sz="26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十八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二十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滚动轴承内圈内径公差带与一般孔作为基准孔（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H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）相比较其特点是（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基本偏差代号为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H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，即下偏差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EI=0,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上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偏差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ES&gt;0</a:t>
            </a:r>
            <a:endParaRPr lang="en-US" altLang="zh-CN" sz="200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基本偏差代号为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h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，即上偏差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es=0,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下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偏差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ei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&lt;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0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公差带单向偏置在零线下方，即上偏差为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charset="0"/>
                <a:sym typeface="+mn-ea"/>
              </a:rPr>
              <a:t>，下偏差为负值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与一般孔作为基准孔（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H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）的公差带位置相同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一般与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级、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级滚动轴承相配合的轴颈，其公差等级选择多为（      ）？</a:t>
            </a:r>
            <a:endParaRPr lang="zh-CN" altLang="en-US" sz="2600" b="1" dirty="0">
              <a:solidFill>
                <a:schemeClr val="tx1"/>
              </a:solidFill>
              <a:latin typeface="Times New Roman" panose="0202060305040502030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IT3~IT5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IT5~IT7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IT6~IT8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IT8~IT10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在装配图上标注滚动轴承外圈与外壳孔及内圈与轴颈的配合代号，不准分子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分母标注，国标规定是（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  <a:latin typeface="+mn-ea"/>
              </a:rPr>
              <a:t>只分别标注</a:t>
            </a: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外壳孔及轴颈：公称直径</a:t>
            </a:r>
            <a:r>
              <a:rPr lang="en-US" altLang="zh-CN" sz="2000">
                <a:solidFill>
                  <a:srgbClr val="000000"/>
                </a:solidFill>
                <a:latin typeface="+mn-ea"/>
                <a:sym typeface="+mn-ea"/>
              </a:rPr>
              <a:t>+</a:t>
            </a: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公差带代号</a:t>
            </a:r>
            <a:endParaRPr lang="zh-CN" altLang="en-US" sz="2000">
              <a:solidFill>
                <a:srgbClr val="000000"/>
              </a:solidFill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只标注</a:t>
            </a: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外壳孔：公称直径</a:t>
            </a:r>
            <a:r>
              <a:rPr lang="en-US" altLang="zh-CN" sz="2000">
                <a:solidFill>
                  <a:srgbClr val="000000"/>
                </a:solidFill>
                <a:latin typeface="+mn-ea"/>
                <a:sym typeface="+mn-ea"/>
              </a:rPr>
              <a:t>+</a:t>
            </a: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公差带代号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只标注</a:t>
            </a: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轴颈：公称直径</a:t>
            </a:r>
            <a:r>
              <a:rPr lang="en-US" altLang="zh-CN" sz="2000">
                <a:solidFill>
                  <a:srgbClr val="000000"/>
                </a:solidFill>
                <a:latin typeface="+mn-ea"/>
                <a:sym typeface="+mn-ea"/>
              </a:rPr>
              <a:t>+</a:t>
            </a:r>
            <a:r>
              <a:rPr lang="zh-CN" altLang="en-US" sz="2000">
                <a:solidFill>
                  <a:srgbClr val="000000"/>
                </a:solidFill>
                <a:latin typeface="+mn-ea"/>
                <a:sym typeface="+mn-ea"/>
              </a:rPr>
              <a:t>公差带代号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 dirty="0">
                <a:solidFill>
                  <a:srgbClr val="000000"/>
                </a:solidFill>
                <a:latin typeface="+mn-ea"/>
                <a:sym typeface="+mn-ea"/>
              </a:rPr>
              <a:t>只标注滚动轴承的公差等级代号</a:t>
            </a:r>
            <a:endParaRPr lang="zh-CN" altLang="en-US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在装配图上标注了滚动轴承内圈与轴颈的配合代号为</a:t>
            </a:r>
            <a:r>
              <a:rPr lang="zh-CN" altLang="en-US" sz="2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φ</a:t>
            </a:r>
            <a:r>
              <a:rPr lang="en-US" altLang="zh-CN" sz="2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60k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lang="en-US" altLang="zh-CN"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，则表示其配合基准制度及配合性质分别是（     ）？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基孔制；过渡配合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基轴制；过渡配合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基孔制；过盈配合（小过盈量）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29805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基轴制；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过盈配合（小过盈量）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79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MultipleChoice"/>
  <p:tag name="PROBLEMSCORE" val="1.0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p="http://schemas.openxmlformats.org/presentationml/2006/main">
  <p:tag name="RAINPROBLEM" val="MultipleChoice"/>
  <p:tag name="PROBLEMSCORE" val="1.0"/>
</p:tagLst>
</file>

<file path=ppt/tags/tag87.xml><?xml version="1.0" encoding="utf-8"?>
<p:tagLst xmlns:p="http://schemas.openxmlformats.org/presentationml/2006/main">
  <p:tag name="RAINPROBLEM" val="ProblemBody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p="http://schemas.openxmlformats.org/presentationml/2006/main">
  <p:tag name="RAINPROBLEM" val="MultipleChoice"/>
  <p:tag name="PROBLEMSCORE" val="1.0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p="http://schemas.openxmlformats.org/presentationml/2006/main">
  <p:tag name="RAINPROBLEM" val="MultipleChoice"/>
  <p:tag name="PROBLEMSCORE" val="1.0"/>
</p:tagLst>
</file>

<file path=ppt/tags/tag121.xml><?xml version="1.0" encoding="utf-8"?>
<p:tagLst xmlns:p="http://schemas.openxmlformats.org/presentationml/2006/main">
  <p:tag name="RAINPROBLEM" val="ProblemBody"/>
</p:tagLst>
</file>

<file path=ppt/tags/tag122.xml><?xml version="1.0" encoding="utf-8"?>
<p:tagLst xmlns:p="http://schemas.openxmlformats.org/presentationml/2006/main">
  <p:tag name="RAINPROBLEM" val="ProblemItem"/>
</p:tagLst>
</file>

<file path=ppt/tags/tag123.xml><?xml version="1.0" encoding="utf-8"?>
<p:tagLst xmlns:p="http://schemas.openxmlformats.org/presentationml/2006/main">
  <p:tag name="RAINPROBLEM" val="ProblemItem"/>
</p:tagLst>
</file>

<file path=ppt/tags/tag124.xml><?xml version="1.0" encoding="utf-8"?>
<p:tagLst xmlns:p="http://schemas.openxmlformats.org/presentationml/2006/main">
  <p:tag name="RAINPROBLEM" val="ProblemItem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p="http://schemas.openxmlformats.org/presentationml/2006/main">
  <p:tag name="RAINPROBLEMTYPE" val="ProblemTypeMarker"/>
</p:tagLst>
</file>

<file path=ppt/tags/tag132.xml><?xml version="1.0" encoding="utf-8"?>
<p:tagLst xmlns:p="http://schemas.openxmlformats.org/presentationml/2006/main">
  <p:tag name="RAINPROBLEMTYPE" val="ProblemTypeMarker"/>
</p:tagLst>
</file>

<file path=ppt/tags/tag133.xml><?xml version="1.0" encoding="utf-8"?>
<p:tagLst xmlns:p="http://schemas.openxmlformats.org/presentationml/2006/main">
  <p:tag name="RAINPROBLEMTYPE" val="ProblemTypeMarker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" val="ProblemSetting"/>
  <p:tag name="RAINPROBLEMTYPE" val="MultipleChoice"/>
</p:tagLst>
</file>

<file path=ppt/tags/tag137.xml><?xml version="1.0" encoding="utf-8"?>
<p:tagLst xmlns:p="http://schemas.openxmlformats.org/presentationml/2006/main">
  <p:tag name="RAINPROBLEM" val="MultipleChoice"/>
  <p:tag name="PROBLEMSCORE" val="1.0"/>
</p:tagLst>
</file>

<file path=ppt/tags/tag138.xml><?xml version="1.0" encoding="utf-8"?>
<p:tagLst xmlns:p="http://schemas.openxmlformats.org/presentationml/2006/main">
  <p:tag name="RAINPROBLEM" val="ProblemBody"/>
</p:tagLst>
</file>

<file path=ppt/tags/tag139.xml><?xml version="1.0" encoding="utf-8"?>
<p:tagLst xmlns:p="http://schemas.openxmlformats.org/presentationml/2006/main">
  <p:tag name="RAINPROBLEM" val="ProblemItem"/>
</p:tagLst>
</file>

<file path=ppt/tags/tag140.xml><?xml version="1.0" encoding="utf-8"?>
<p:tagLst xmlns:p="http://schemas.openxmlformats.org/presentationml/2006/main">
  <p:tag name="RAINPROBLEM" val="ProblemItem"/>
</p:tagLst>
</file>

<file path=ppt/tags/tag141.xml><?xml version="1.0" encoding="utf-8"?>
<p:tagLst xmlns:p="http://schemas.openxmlformats.org/presentationml/2006/main">
  <p:tag name="RAINPROBLEM" val="ProblemItem"/>
</p:tagLst>
</file>

<file path=ppt/tags/tag142.xml><?xml version="1.0" encoding="utf-8"?>
<p:tagLst xmlns:p="http://schemas.openxmlformats.org/presentationml/2006/main">
  <p:tag name="RAINPROBLEM" val="ProblemItem"/>
</p:tagLst>
</file>

<file path=ppt/tags/tag1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p="http://schemas.openxmlformats.org/presentationml/2006/main">
  <p:tag name="RAINPROBLEM" val="ProblemSubmit"/>
  <p:tag name="RAINPROBLEMTYPE" val="MultipleChoice"/>
</p:tagLst>
</file>

<file path=ppt/tags/tag148.xml><?xml version="1.0" encoding="utf-8"?>
<p:tagLst xmlns:p="http://schemas.openxmlformats.org/presentationml/2006/main">
  <p:tag name="RAINPROBLEMTYPE" val="ProblemTypeMarker"/>
</p:tagLst>
</file>

<file path=ppt/tags/tag149.xml><?xml version="1.0" encoding="utf-8"?>
<p:tagLst xmlns:p="http://schemas.openxmlformats.org/presentationml/2006/main">
  <p:tag name="RAINPROBLEMTYPE" val="ProblemTypeMarker"/>
</p:tagLst>
</file>

<file path=ppt/tags/tag150.xml><?xml version="1.0" encoding="utf-8"?>
<p:tagLst xmlns:p="http://schemas.openxmlformats.org/presentationml/2006/main">
  <p:tag name="RAINPROBLEMTYPE" val="ProblemTypeMarker"/>
</p:tagLst>
</file>

<file path=ppt/tags/tag151.xml><?xml version="1.0" encoding="utf-8"?>
<p:tagLst xmlns:p="http://schemas.openxmlformats.org/presentationml/2006/main">
  <p:tag name="RAINPROBLEMTYPE" val="ProblemTypeMarker"/>
</p:tagLst>
</file>

<file path=ppt/tags/tag152.xml><?xml version="1.0" encoding="utf-8"?>
<p:tagLst xmlns:p="http://schemas.openxmlformats.org/presentationml/2006/main">
  <p:tag name="RAINPROBLEMTYPE" val="ProblemTypeMarker"/>
</p:tagLst>
</file>

<file path=ppt/tags/tag153.xml><?xml version="1.0" encoding="utf-8"?>
<p:tagLst xmlns:p="http://schemas.openxmlformats.org/presentationml/2006/main">
  <p:tag name="RAINPROBLEM" val="ProblemSetting"/>
  <p:tag name="RAINPROBLEMTYPE" val="MultipleChoice"/>
</p:tagLst>
</file>

<file path=ppt/tags/tag154.xml><?xml version="1.0" encoding="utf-8"?>
<p:tagLst xmlns:p="http://schemas.openxmlformats.org/presentationml/2006/main">
  <p:tag name="RAINPROBLEM" val="MultipleChoice"/>
  <p:tag name="PROBLEMSCORE" val="1.0"/>
</p:tagLst>
</file>

<file path=ppt/tags/tag155.xml><?xml version="1.0" encoding="utf-8"?>
<p:tagLst xmlns:p="http://schemas.openxmlformats.org/presentationml/2006/main">
  <p:tag name="RAINPROBLEM" val="ProblemBody"/>
</p:tagLst>
</file>

<file path=ppt/tags/tag156.xml><?xml version="1.0" encoding="utf-8"?>
<p:tagLst xmlns:p="http://schemas.openxmlformats.org/presentationml/2006/main">
  <p:tag name="RAINPROBLEM" val="ProblemItem"/>
</p:tagLst>
</file>

<file path=ppt/tags/tag157.xml><?xml version="1.0" encoding="utf-8"?>
<p:tagLst xmlns:p="http://schemas.openxmlformats.org/presentationml/2006/main">
  <p:tag name="RAINPROBLEM" val="ProblemItem"/>
</p:tagLst>
</file>

<file path=ppt/tags/tag158.xml><?xml version="1.0" encoding="utf-8"?>
<p:tagLst xmlns:p="http://schemas.openxmlformats.org/presentationml/2006/main">
  <p:tag name="RAINPROBLEM" val="ProblemItem"/>
</p:tagLst>
</file>

<file path=ppt/tags/tag159.xml><?xml version="1.0" encoding="utf-8"?>
<p:tagLst xmlns:p="http://schemas.openxmlformats.org/presentationml/2006/main">
  <p:tag name="RAINPROBLEM" val="ProblemItem"/>
</p:tagLst>
</file>

<file path=ppt/tags/tag1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p="http://schemas.openxmlformats.org/presentationml/2006/main">
  <p:tag name="RAINPROBLEM" val="ProblemSubmit"/>
  <p:tag name="RAINPROBLEMTYPE" val="MultipleChoice"/>
</p:tagLst>
</file>

<file path=ppt/tags/tag165.xml><?xml version="1.0" encoding="utf-8"?>
<p:tagLst xmlns:p="http://schemas.openxmlformats.org/presentationml/2006/main">
  <p:tag name="RAINPROBLEMTYPE" val="ProblemTypeMarker"/>
</p:tagLst>
</file>

<file path=ppt/tags/tag166.xml><?xml version="1.0" encoding="utf-8"?>
<p:tagLst xmlns:p="http://schemas.openxmlformats.org/presentationml/2006/main">
  <p:tag name="RAINPROBLEMTYPE" val="ProblemTypeMarker"/>
</p:tagLst>
</file>

<file path=ppt/tags/tag167.xml><?xml version="1.0" encoding="utf-8"?>
<p:tagLst xmlns:p="http://schemas.openxmlformats.org/presentationml/2006/main">
  <p:tag name="RAINPROBLEMTYPE" val="ProblemTypeMarker"/>
</p:tagLst>
</file>

<file path=ppt/tags/tag168.xml><?xml version="1.0" encoding="utf-8"?>
<p:tagLst xmlns:p="http://schemas.openxmlformats.org/presentationml/2006/main">
  <p:tag name="RAINPROBLEMTYPE" val="ProblemTypeMarker"/>
</p:tagLst>
</file>

<file path=ppt/tags/tag169.xml><?xml version="1.0" encoding="utf-8"?>
<p:tagLst xmlns:p="http://schemas.openxmlformats.org/presentationml/2006/main">
  <p:tag name="RAINPROBLEMTYPE" val="ProblemTypeMarker"/>
</p:tagLst>
</file>

<file path=ppt/tags/tag170.xml><?xml version="1.0" encoding="utf-8"?>
<p:tagLst xmlns:p="http://schemas.openxmlformats.org/presentationml/2006/main">
  <p:tag name="RAINPROBLEM" val="ProblemSetting"/>
  <p:tag name="RAINPROBLEMTYPE" val="MultipleChoice"/>
</p:tagLst>
</file>

<file path=ppt/tags/tag171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WPS 演示</Application>
  <PresentationFormat>宽屏</PresentationFormat>
  <Paragraphs>244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黑体</vt:lpstr>
      <vt:lpstr>Times New Roman</vt:lpstr>
      <vt:lpstr>Arial Unicode MS</vt:lpstr>
      <vt:lpstr>Tahoma</vt:lpstr>
      <vt:lpstr>仿宋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186</cp:revision>
  <dcterms:created xsi:type="dcterms:W3CDTF">2019-06-19T02:08:00Z</dcterms:created>
  <dcterms:modified xsi:type="dcterms:W3CDTF">2020-03-31T16:15:48Z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